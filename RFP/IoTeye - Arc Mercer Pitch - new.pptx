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926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D6EAF8"/>
                </a:solidFill>
                <a:latin typeface="Calibri"/>
              </a:defRPr>
            </a:pPr>
            <a:r>
              <a:t>IoTeye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Employee Engagement &amp;</a:t>
            </a:r>
            <a:br/>
            <a:r>
              <a:t>Recognition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Proposal for The Arc Mercer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6EAF8"/>
                </a:solidFill>
                <a:latin typeface="Calibri"/>
              </a:defRPr>
            </a:pPr>
            <a:r>
              <a:t>April 2026  |  Basking Ridge, NJ  |  www.ioteyeinc.com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333333"/>
                </a:solidFill>
                <a:latin typeface="Calibri"/>
              </a:defRPr>
            </a:pPr>
            <a:r>
              <a:t>1.  About IoTeye Inc. &amp; Platform Ecosystem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 BrainClaw AI Agents — Already at Arc Mercer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 Understanding Your Challenge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 Our Solution — Platform Overview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 Key Features Deep Dive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6.  Paycom Integration &amp; SSO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7.  Accessibility &amp; Mobile-First Design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8.  Phased Implementation Timeline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9.  Pricing Options</a:t>
            </a:r>
          </a:p>
          <a:p>
            <a:pPr>
              <a:spcAft>
                <a:spcPts val="10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10. Why IoTeye —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About IoTeye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Remote software company — Basking Ridge, NJ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5+ years building special care software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1,000+ consumers across our platforms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Core domain: Special Care sector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Full-stack SaaS expertise: design → deploy →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Our Products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SpringBoard: Multi-agency route management &amp; operations (route opt., fleet, Twilio SMS, multi-tenant)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BrainBook: AI platform — Next.js/React/TypeScript, Supabase, AI agents, voice I/O, desktop &amp; web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Guardian: Notification system — SMS, push notifications, reply tracking, iOS &amp; Android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BrainClaw: AI agent gateway (GPT-4.1) — 37-tool SpringBoard agent &amp; 57-tool Samsara agent live at Arc Mercer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Total Agency Services for Special Care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5394960" cy="5303520"/>
          </a:xfrm>
          <a:prstGeom prst="rect">
            <a:avLst/>
          </a:prstGeom>
          <a:solidFill>
            <a:srgbClr val="12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Special Care Cloud (AWS)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0020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Market: 6,000+ special care agencies in the USA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Agentic AI Platform — Cloud, Desktop, Mobile, IoT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Personal AI assistants for agency workflows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Apps for Parent/Guardian, Consumer/Patient, Staff/Driver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IoT: OBD, DashCam, Minew Proximity, Home Assistant Green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Samsara App Partner — fleet telematics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HIPAA-compliant AI inference 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005840"/>
            <a:ext cx="5394960" cy="5303520"/>
          </a:xfrm>
          <a:prstGeom prst="rect">
            <a:avLst/>
          </a:prstGeom>
          <a:solidFill>
            <a:srgbClr val="12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1097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C1"/>
                </a:solidFill>
                <a:latin typeface="Calibri"/>
              </a:defRPr>
            </a:pPr>
            <a:r>
              <a:t>Platform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6916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SpringBoard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Route/Fleet — paratransit ops, multi-tenant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468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Guardian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432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Notifications — SMS, push, reply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46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BrainBook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20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Platform — desktop, web, mobile, voice I/O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023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86C1"/>
                </a:solidFill>
                <a:latin typeface="Calibri"/>
              </a:defRPr>
            </a:pPr>
            <a:r>
              <a:t>BrainClaw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297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AI Agents — 94+ tools, GPT-4.1, Arc Mercer live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BrainClaw AI Agents — Already at Arc Mercer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In Production at Arc Mercer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Powered by BrainClaw + GPT-4.1 (GitHub Copilot)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SpringBoard Agent — 37 tools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 Routes, fleet, consumers, optimization, SMS, GPS, SOS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Samsara Agent — 57 tools</a:t>
            </a:r>
          </a:p>
          <a:p>
            <a:pPr>
              <a:spcAft>
                <a:spcPts val="5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 Vehicles, drivers, HOS, safety events, DVIRs, GPS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Calibri"/>
              </a:defRPr>
            </a:pPr>
            <a:r>
              <a:t>Arc Mercer staff use natural language today: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80560"/>
            <a:ext cx="54864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52628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"Optimize routes for Weekday AM"</a:t>
            </a:r>
            <a:br/>
            <a:r>
              <a:t>"Where is vehicle 147 right now?"</a:t>
            </a:r>
            <a:br/>
            <a:r>
              <a:t>"SMS all Residential drivers — 10 min delay"</a:t>
            </a:r>
            <a:br/>
            <a:r>
              <a:t>"Generate daily manifest for Arc Mercer"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097280"/>
            <a:ext cx="5577840" cy="530352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Extending to Recognition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Calibri"/>
              </a:defRPr>
            </a:pPr>
            <a:r>
              <a:t>Natural language for HR &amp; leadership: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4884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"Which program had most nominations last month?"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"Who hasn't been recognized in 60+ days?"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"Flag unusual point bestowals this week"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"Generate Q1 engagement report as CSV"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"What's our engagement score this month?"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5303520"/>
            <a:ext cx="5303520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34924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★ Optional add-on — same BrainBook UI Arc Mercer already 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Understanding Your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The Arc Mercer's Current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Manual recognition processes — inconsistent, hard to track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Multiple programs (Residential, Day Programs) operating in silos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Frontline staff with varying technical literacy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centralized system for nominations or point tracking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connection to Paycom HRIS for employee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What You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Centralized, web-based recognition platform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Program-based competition engine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Multi-stream point system with audit trails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Rewards marketplace for merchandise &amp; gift cards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Paycom integration &amp; SSO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Mobile-first, accessible to all staff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 — Platform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Custom-Built SaaS — Tailored for The Arc Mercer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90195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React + TypeScript PWA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6771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Mobile-first responsive design, offline capable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880360"/>
            <a:ext cx="9144000" cy="914400"/>
          </a:xfrm>
          <a:prstGeom prst="rect">
            <a:avLst/>
          </a:prstGeom>
          <a:solidFill>
            <a:srgbClr val="1A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9535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Supabase (PostgreSQL)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192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Auth, real-time subscriptions, Row Level Security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931920"/>
            <a:ext cx="9144000" cy="914400"/>
          </a:xfrm>
          <a:prstGeom prst="rect">
            <a:avLst/>
          </a:prstGeom>
          <a:solidFill>
            <a:srgbClr val="14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00507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Python (FastAPI)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3708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Paycom SFTP sync, gift card APIs, scheduled 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4983480"/>
            <a:ext cx="9144000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05663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AWS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4223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ECS Fargate, CloudFront, S3, WAF, CloudWatch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Security: AES-256 at rest  |  TLS 1.3 in transit  |  WCAG AAA  |  Full audit logging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Program-Based Competition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Nominations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3 award types: Employee of the Month, Rising Star, Team Impact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Step-by-step guided form with large buttons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1 nomination per candidate/month, 5 total/month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Friendly feedback when limits reached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QA Queue &amp; Programs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Approve / Return for Edits / Decline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Points awarded only upon admin approval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Filter by program, award type, date, status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Programs synced from Paycom automatically</a:t>
            </a:r>
          </a:p>
        </p:txBody>
      </p:sp>
      <p:pic>
        <p:nvPicPr>
          <p:cNvPr id="8" name="Picture 7" descr="reward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217920" cy="34619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Point Allocation &amp; Engagement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Multi-Stream Point Accrual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64008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47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Point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470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Trigger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Employee / Rising Star / Team Impact (Approved)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2585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QA queue approval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64008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700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TAC Meeting Attendance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7004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Admin check-in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815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Newsletter Trivia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815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Correct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64008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Birthday / Anniversary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930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Automated (Paycom sync)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86200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044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Leadership Bestowal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90448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Manual award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All point values are admin-configurable — no code changes needed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Audit &amp; Transparency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18288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Immutable transaction log for every point change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Timestamp, actor, action, amount, reason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Filterable by employee, program, date, type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Export to CSV for external review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Anomaly highlighting for oversight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Top-down bestowal with instant 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Rewards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Digital Storefront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9164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Visual catalog with images, point costs, descriptions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Categories: Merchandise, Cafeteria Meals, Gift Cards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Real-time point balance during browsing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One-tap redemption with confirmation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Order history for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Admin Fulfillment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Inventory management (add/edit items, stock levels)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Low-stock alerts, out-of-stock auto-hiding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Order queue: Pending → Processing → Fulfilled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Digital gift card: API-based instant delivery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Gift card fees: 3-5% vendor markup (pass-through)</a:t>
            </a:r>
          </a:p>
        </p:txBody>
      </p:sp>
      <p:pic>
        <p:nvPicPr>
          <p:cNvPr id="8" name="Picture 7" descr="reward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6217920" cy="34619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Paycom Integration &amp; 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Paycom HRIS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Primary: SFTP nightly file export (CSV/XML)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Python ETL service parses &amp; syncs to Supabase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Auto-provision new hires, deactivate terminations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Sync: Employee ID, name, email, program, hire date, DOB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Discrepancy reports flagged for HR review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Optional: REST API enhancement (if subscription supports)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389120"/>
            <a:ext cx="502920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onsolas"/>
              </a:defRPr>
            </a:pPr>
            <a:r>
              <a:t>Paycom → SFTP Export → AWS S3 → Python ETL</a:t>
            </a:r>
            <a:br/>
            <a:r>
              <a:t>          ↓</a:t>
            </a:r>
            <a:br/>
            <a:r>
              <a:t>    Supabase (PostgreSQL)</a:t>
            </a:r>
            <a:br/>
            <a:r>
              <a:t>          ↓</a:t>
            </a:r>
            <a:br/>
            <a:r>
              <a:t>    React Front End (Live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Single Sign-On (SSO)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Supabase Auth: SAML 2.0, OAuth 2.0, OIDC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Initial: Google Workspace SSO (current provider)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Future: Microsoft Entra ID — zero-downtime migration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Both providers can run in parallel during transition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Fallback: email/password for part-time staff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Employee clicks 'Sign In' → Google login → done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Accessibility &amp; Mobile-First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66666"/>
                </a:solidFill>
                <a:latin typeface="Calibri"/>
              </a:defRPr>
            </a:pPr>
            <a:r>
              <a:t>Design philosophy: "Could someone who only uses their phone for calls and texts do this?"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Universal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Large touch targets: 48×48px minimum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WCAG AAA contrast (7:1 ratio)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Icon-driven navigation — not text-dependent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6th grade reading level for all text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Progressive disclosure — one action per screen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Keyboard navigable, screen reader compatible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86C1"/>
                </a:solidFill>
                <a:latin typeface="Calibri"/>
              </a:defRPr>
            </a:pPr>
            <a:r>
              <a:t>Mobile-First PWA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• Progressive Web App (PWA) — no app store needed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Works on any smartphone, 320px+ screens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Low-bandwidth friendly, lazy-loaded images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Bottom nav: Home, Nominate, Store, Points, Profile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Touch-optimized: swipe, pull-to-refresh</a:t>
            </a:r>
          </a:p>
          <a:p>
            <a:pPr>
              <a:spcAft>
                <a:spcPts val="10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• Accessibility audit before each phase launch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Dashboards — Employee &amp;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C1"/>
                </a:solidFill>
                <a:latin typeface="Calibri"/>
              </a:defRPr>
            </a:pPr>
            <a:r>
              <a:t>Employee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3796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86C1"/>
                </a:solidFill>
                <a:latin typeface="Calibri"/>
              </a:defRPr>
            </a:pPr>
            <a:r>
              <a:t>Leadership Console</a:t>
            </a:r>
          </a:p>
        </p:txBody>
      </p:sp>
      <p:pic>
        <p:nvPicPr>
          <p:cNvPr id="6" name="Picture 5" descr="reward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417320"/>
            <a:ext cx="5486400" cy="3054631"/>
          </a:xfrm>
          <a:prstGeom prst="rect">
            <a:avLst/>
          </a:prstGeom>
        </p:spPr>
      </p:pic>
      <p:pic>
        <p:nvPicPr>
          <p:cNvPr id="7" name="Picture 6" descr="reward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417320"/>
            <a:ext cx="5486400" cy="305463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Points Balance  •  Wall of Fame  •  Quick Nominate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4617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  <a:latin typeface="Calibri"/>
              </a:defRPr>
            </a:pPr>
            <a:r>
              <a:t>Total Points  •  Engagement Rate  •  QA Pending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74920"/>
            <a:ext cx="12191695" cy="6400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B2A4A"/>
                </a:solidFill>
                <a:latin typeface="Calibri"/>
              </a:defRPr>
            </a:pPr>
            <a:r>
              <a:t>All dashboards are real-time  •  Mobile-first  •  Accessible on any device  •  Role-based visibility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Phased Implementation — 36 Weeks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438912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74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1: Foundation  (Weeks 1–12)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2560320"/>
            <a:ext cx="3200400" cy="548640"/>
          </a:xfrm>
          <a:prstGeom prst="rect">
            <a:avLst/>
          </a:prstGeom>
          <a:solidFill>
            <a:srgbClr val="147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2: Engagement  (Weeks 13–24)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3291840"/>
            <a:ext cx="3200400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Phase 3: Marketplace  (Weeks 25–36)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Phase 1 Deliverables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Nomination portal (3 award types)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QA queue (approve/return/decline)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Paycom SFTP sync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Google Workspace SSO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Manual point bestowal + audit trail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735A"/>
                </a:solidFill>
                <a:latin typeface="Calibri"/>
              </a:defRPr>
            </a:pPr>
            <a:r>
              <a:t>Phase 2 Deliverables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54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Employee dashboards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Leadership analytics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Automated birthday/anniversary awards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TAC attendance &amp; trivia tracking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Push/email notifications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389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Phase 3 Deliverables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7548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333333"/>
                </a:solidFill>
                <a:latin typeface="Calibri"/>
              </a:defRPr>
            </a:pPr>
            <a:r>
              <a:t>• Digital rewards storefront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Physical &amp; digital fulfillment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Gift card instant delivery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Inventory management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• Complete platform go-live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Pricing — Option A: Source-Code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The Arc Mercer owns all source code, database, and IP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3657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7556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737360"/>
            <a:ext cx="1371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1755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737360"/>
            <a:ext cx="1371600" cy="411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556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148840"/>
            <a:ext cx="3657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16712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Phase 1: Nominations, Paycom, SSO, Infrastructure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14884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1671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~480 hrs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14884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671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$45,000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560320"/>
            <a:ext cx="3657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25786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Phase 2: Dashboards, Tracking, Notifications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25603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25786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~310 hrs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57860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$35,000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971800"/>
            <a:ext cx="3657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299008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Phase 3: Marketplace, Gift Cards, Fulfillment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97180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2990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~280 hrs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971800"/>
            <a:ext cx="1371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9900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$30,000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383280"/>
            <a:ext cx="36576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340156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Total Implementation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3383280"/>
            <a:ext cx="13716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0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~1,070 hrs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383280"/>
            <a:ext cx="1371600" cy="411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401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$110,000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86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Blended rate: ~$103/hr — well below $150-250/hr industry standard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17373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C1"/>
                </a:solidFill>
                <a:latin typeface="Calibri"/>
              </a:defRPr>
            </a:pPr>
            <a:r>
              <a:t>Annual Recurring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2860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333333"/>
                </a:solidFill>
                <a:latin typeface="Calibri"/>
              </a:defRPr>
            </a:pPr>
            <a:r>
              <a:t>• AWS hosting/CDN/monitoring: $6,000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Supabase Pro Plan: $3,000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SSL &amp; domain: $200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Maintenance &amp; support: $12,000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Total annual: $21,200/year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772400" y="4572000"/>
            <a:ext cx="3657600" cy="109728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79" y="46634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Year 1 Total: $131,200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5029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2A4A"/>
                </a:solidFill>
                <a:latin typeface="Calibri"/>
              </a:defRPr>
            </a:pPr>
            <a:r>
              <a:t>Year 2+: $21,200/year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Pricing — Option B: IoTeye-Hosted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No upfront cost — IoTeye retains platform ownership &amp; offers managed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4114800" cy="2286000"/>
          </a:xfrm>
          <a:prstGeom prst="rect">
            <a:avLst/>
          </a:prstGeom>
          <a:solidFill>
            <a:srgbClr val="D6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9202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6888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Implementation fee: $0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Monthly subscription: $2,500/month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Annual total: $30,000/year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Minimum commitment: 3-year term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828800"/>
            <a:ext cx="4572000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Calibri"/>
              </a:defRPr>
            </a:pPr>
            <a:r>
              <a:t>What's Included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• All 3 phases (same 36-week timeline)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Hosting, maintenance, security updates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Ongoing support &amp; platform updates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No per-user fees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2A4A"/>
                </a:solidFill>
                <a:latin typeface="Calibri"/>
              </a:defRPr>
            </a:pPr>
            <a:r>
              <a:t>Option A vs. Option B — Cost Comparison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0" y="4846320"/>
            <a:ext cx="22860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86460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3931920" y="4846320"/>
            <a:ext cx="32004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4864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Option A (Own Code)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4846320"/>
            <a:ext cx="3200400" cy="3657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23760" y="48646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Option B (SaaS)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0" y="5212080"/>
            <a:ext cx="22860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52212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Upfront Cost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521208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5221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$110,000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521208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522122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45920" y="5532120"/>
            <a:ext cx="2286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554126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Annual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53212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0" y="55412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$21,200/year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553212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0" y="55412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$30,000/year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0" y="5852160"/>
            <a:ext cx="22860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586130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3-Year 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1920" y="585216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5861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$173,600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585216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60" y="5861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$90,000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45920" y="6172200"/>
            <a:ext cx="22860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37360" y="61813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5-Year Total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931920" y="617220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0" y="6181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$216,000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0" y="6172200"/>
            <a:ext cx="32004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23760" y="6181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$150,000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45920" y="6492240"/>
            <a:ext cx="22860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37360" y="65013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Calibri"/>
              </a:defRPr>
            </a:pPr>
            <a:r>
              <a:t>Code Ownership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649224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65013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Yes — you own it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6492240"/>
            <a:ext cx="3200400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0" y="65013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— IoTeye retains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IoTeye —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Why We're the Right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• 5+ years in special care software — we know your workforce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Arc Mercer is an existing SpringBoard &amp; Guardian customer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BrainClaw AI agents already running at Arc Mercer (37+57 tools)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Production platforms: SpringBoard, BrainBook, Guardian, BrainClaw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Same tech stack (React, Supabase, Python, AWS) — proven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Mobile-first, accessible design as a core competency</a:t>
            </a:r>
          </a:p>
          <a:p>
            <a:pPr>
              <a:spcAft>
                <a:spcPts val="9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Flexible pricing: own the code or pay-as-you-go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E86C1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• Select pricing option (A or B)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Schedule kickoff &amp; discovery workshop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Initiate Paycom SFTP access setup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Configure Google Workspace SSO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Phase One live in 12 weeks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389120"/>
            <a:ext cx="4572000" cy="18288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Contact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49377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IoTeye Inc.</a:t>
            </a:r>
            <a:br/>
            <a:r>
              <a:t>Basking Ridge, New Jersey</a:t>
            </a:r>
            <a:br/>
            <a:r>
              <a:t>mingjye.sheng@ioteyeinc.com</a:t>
            </a:r>
            <a:br/>
            <a:r>
              <a:t>www.ioteyeinc.com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