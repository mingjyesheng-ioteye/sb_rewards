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2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926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AF8"/>
                </a:solidFill>
                <a:latin typeface="Calibri"/>
              </a:defRPr>
            </a:pPr>
            <a:r>
              <a:t>IoTeye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Employee Engagement &amp;</a:t>
            </a:r>
            <a:br/>
            <a:r>
              <a:t>Recognition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Proposal for The Arc Mercer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AF8"/>
                </a:solidFill>
                <a:latin typeface="Calibri"/>
              </a:defRPr>
            </a:pPr>
            <a:r>
              <a:t>April 2026  |  Basking Ridge, NJ  |  www.ioteyeinc.com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1.  About IoTeye &amp; Platform Ecosystem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 BrainClaw AI Agents — Already at Arc Mercer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 Understanding Your Challenge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 Platform Overview &amp; Architecture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 Key Features (Nominations → Engagement → Marketplace)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6.  Integration, Authentication &amp; Accessibility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7.  Dashboards — Employee &amp; Leadership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8.  Implementation Timeline &amp; Pricing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9.  Feature Comparison — How We Stack Up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10. Why IoTeye —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About IoTeye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Remote software company — Basking Ridge, NJ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5+ years building special care software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1,000+ consumers across our platforms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Core domain: Special Care sector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Full-stack SaaS expertise: design → deploy →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Our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SpringBoard: Multi-agency route management &amp; operations (route opt., fleet, Twilio SMS, multi-tenant)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BrainBook: AI platform — Next.js/React/TypeScript, Supabase, AI agents, voice I/O, desktop &amp; web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Guardian: Notification &amp; authentication system — SMS, push notifications, reply tracking, iOS &amp; Android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BrainClaw: AI agent gateway (GPT-4.1) — 37-tool SpringBoard agent &amp; 57-tool Samsara agent live at Arc Mercer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Total Agency Services for Special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Special Care Cloud (AWS)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Market: 6,000+ special care agencies in the USA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Agentic AI Platform — Cloud, Desktop, Mobile, IoT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Personal AI assistants for agency workflows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Apps for Parent/Guardian, Consumer/Patient, Staff/Driver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IoT: OBD, DashCam, Minew Proximity, Home Assistant Green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Samsara App Partner — fleet telematics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HIPAA-compliant AI inference servers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9496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Platform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7451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SpringBoard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Route/Fleet — paratransit ops, multi-tenant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517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Guardian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260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Notifications &amp; authentication — SMS, push, reply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289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BrainBook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7033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AI Platform — desktop, web, mobile, voice 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062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BrainClaw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80559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dirty="0"/>
              <a:t>AI Agents — 94+ tools, </a:t>
            </a:r>
            <a:r>
              <a:rPr lang="en-US" dirty="0"/>
              <a:t>Microsoft GitHub Copilot</a:t>
            </a:r>
            <a:r>
              <a:rPr dirty="0"/>
              <a:t>, Arc Mercer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BrainClaw AI Agents — Already at Arc Mercer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In Production at Arc Mercer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dirty="0"/>
              <a:t>Powered by </a:t>
            </a:r>
            <a:r>
              <a:rPr dirty="0" err="1"/>
              <a:t>BrainClaw</a:t>
            </a:r>
            <a:r>
              <a:rPr dirty="0"/>
              <a:t> + </a:t>
            </a:r>
            <a:r>
              <a:rPr lang="en-US" dirty="0"/>
              <a:t>Microsoft </a:t>
            </a:r>
            <a:r>
              <a:rPr dirty="0"/>
              <a:t>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SpringBoard</a:t>
            </a:r>
            <a:r>
              <a:rPr dirty="0"/>
              <a:t> Agent — 37 tools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  Routes, fleet, consumers, optimization, SMS, GPS, SOS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Samsara Agent — 57 tools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  Vehicles, drivers, HOS, safety events, DVIRs, GPS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Arc Mercer staff use natural language today: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5486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5262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"Optimize routes for Weekday AM"</a:t>
            </a:r>
            <a:br/>
            <a:r>
              <a:t>"Where is vehicle 147 right now?"</a:t>
            </a:r>
            <a:br/>
            <a:r>
              <a:t>"SMS all Residential drivers — 10 min delay"</a:t>
            </a:r>
            <a:br/>
            <a:r>
              <a:t>"Generate daily manifest for Arc Mercer"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577840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Extending to Recognition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Natural language for HR &amp; leadership: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"Which program had most nominations last month?"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"Who hasn't been recognized in 60+ days?"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"Flag unusual point bestowals this week"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"Generate Q1 engagement report as CSV"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"What's our engagement score this month?"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5303520"/>
            <a:ext cx="530352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5349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Optional add-on — same BrainBook UI Arc Mercer already 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Your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The Arc Mercer's 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Manual recognition processes — inconsistent, hard to track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Multiple programs (Residential, Day Programs) operating in silos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Frontline staff with varying technical literacy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Many frontline DSPs lack company email addresses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Selection committee uses ranked-choice voting — no digital tool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centralized system for nominations or point tracking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connection to Paycom HRIS for employee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What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Centralized, web-based recognition platform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Program-based competition engine with committee voting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Multi-stream point system with audit trails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Rewards marketplace — digital, café, and in-person store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Paycom integration &amp; flexible auth (SSO + Badge ID + PIN)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Community engagement: TAC, culture groups, volunteering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Mobile-first, accessible to all staff (incl. dark mode)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 —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Custom-Built SaaS — Tailored for The Arc Mercer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901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React + TypeScript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67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Mobile-first responsive design, offline capable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80360"/>
            <a:ext cx="9144000" cy="914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29535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Supabase (PostgreSQL)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192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Auth, real-time subscriptions, Row Level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931920"/>
            <a:ext cx="9144000" cy="914400"/>
          </a:xfrm>
          <a:prstGeom prst="rect">
            <a:avLst/>
          </a:prstGeom>
          <a:solidFill>
            <a:srgbClr val="14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40050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Python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708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Paycom SFTP sync, gift card APIs, scheduled 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983480"/>
            <a:ext cx="91440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50566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AWS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223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dirty="0"/>
              <a:t>ECS Fargate, CloudFront, S3, WAF, CloudWatch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dirty="0"/>
              <a:t>Security: AES-256 at rest  |  TLS 1.3 in transit  |  Full audit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Nominations, Voting &amp; QA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Nominations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3 award types: Employee of the Month, Rising Star, Team Impact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Step-by-step guided form with large buttons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1 nomination per candidate/month, 5 total/month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Selection Committee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Ranked-choice drag-and-drop voting interface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Private ballots — not visible until window closes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Automated tally (Borda count / weighted rank)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Per-voter audit trail &amp; historical ballot 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37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QA Queue &amp; Revise-Resubmit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949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Approve / Return for Edits / Decline with batch operations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Formal resubmission loop: status tracking through full cycle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Admin comments → nominator notification → edit &amp; resubmit</a:t>
            </a:r>
          </a:p>
        </p:txBody>
      </p:sp>
      <p:pic>
        <p:nvPicPr>
          <p:cNvPr id="10" name="Picture 9" descr="rewar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217920" cy="3461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Points, Engagement &amp; Community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Multi-Stream Point Accrual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40080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379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Point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37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6400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85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Employee / Rising Star / Team Impact (Approved)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85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QA queue approval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23744"/>
            <a:ext cx="64008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TAC Meeting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32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Admin check-in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71216"/>
            <a:ext cx="6400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TAC Meeting Role Completion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Role fulfilled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18688"/>
            <a:ext cx="64008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27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Culture Group Participation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27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Leader/admin 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6400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5753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Volunteer / Event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753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Post-event confirmation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13632"/>
            <a:ext cx="64008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922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Social Media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922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Screenshot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61104"/>
            <a:ext cx="6400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270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Newsletter Trivia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Correct answer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08576"/>
            <a:ext cx="64008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617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Birthday / Anniversary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617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Automated (Paycom)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956048"/>
            <a:ext cx="6400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965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Leadership Bestowal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965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Manual award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40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All point values are admin-configurable — no code changes needed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Community Engagement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sz="1300" b="1">
                <a:solidFill>
                  <a:srgbClr val="333333"/>
                </a:solidFill>
                <a:latin typeface="Calibri"/>
              </a:rPr>
              <a:t>• TAC RSVP &amp; Role Sign-Ups: </a:t>
            </a:r>
            <a:r>
              <a:rPr sz="1300" b="0">
                <a:solidFill>
                  <a:srgbClr val="333333"/>
                </a:solidFill>
                <a:latin typeface="Calibri"/>
              </a:rPr>
              <a:t>RSVP workflow, role selection (setup, check-in, cleanup), automated reminders</a:t>
            </a:r>
          </a:p>
          <a:p>
            <a:pPr>
              <a:spcAft>
                <a:spcPts val="1000"/>
              </a:spcAft>
              <a:defRPr sz="1300"/>
            </a:pPr>
            <a:r>
              <a:rPr sz="1300" b="1">
                <a:solidFill>
                  <a:srgbClr val="333333"/>
                </a:solidFill>
                <a:latin typeface="Calibri"/>
              </a:rPr>
              <a:t>• Culture Groups: </a:t>
            </a:r>
            <a:r>
              <a:rPr sz="1300" b="0">
                <a:solidFill>
                  <a:srgbClr val="333333"/>
                </a:solidFill>
                <a:latin typeface="Calibri"/>
              </a:rPr>
              <a:t>Self-service directory, one-tap sign-up, attendance tracking, participation points</a:t>
            </a:r>
          </a:p>
          <a:p>
            <a:pPr>
              <a:spcAft>
                <a:spcPts val="1000"/>
              </a:spcAft>
              <a:defRPr sz="1300"/>
            </a:pPr>
            <a:r>
              <a:rPr sz="1300" b="1">
                <a:solidFill>
                  <a:srgbClr val="333333"/>
                </a:solidFill>
                <a:latin typeface="Calibri"/>
              </a:rPr>
              <a:t>• Volunteer Forms: </a:t>
            </a:r>
            <a:r>
              <a:rPr sz="1300" b="0">
                <a:solidFill>
                  <a:srgbClr val="333333"/>
                </a:solidFill>
                <a:latin typeface="Calibri"/>
              </a:rPr>
              <a:t>Event help board, volunteer slots, completion tracking, engagement score</a:t>
            </a:r>
          </a:p>
          <a:p>
            <a:pPr>
              <a:spcAft>
                <a:spcPts val="1000"/>
              </a:spcAft>
              <a:defRPr sz="1300"/>
            </a:pPr>
            <a:r>
              <a:rPr sz="1300" b="1">
                <a:solidFill>
                  <a:srgbClr val="333333"/>
                </a:solidFill>
                <a:latin typeface="Calibri"/>
              </a:rPr>
              <a:t>• Social Media: </a:t>
            </a:r>
            <a:r>
              <a:rPr sz="1300" b="0">
                <a:solidFill>
                  <a:srgbClr val="333333"/>
                </a:solidFill>
                <a:latin typeface="Calibri"/>
              </a:rPr>
              <a:t>Screenshot upload, admin review queue, campaign tracking</a:t>
            </a:r>
          </a:p>
          <a:p>
            <a:pPr>
              <a:spcAft>
                <a:spcPts val="1000"/>
              </a:spcAft>
              <a:defRPr sz="1300"/>
            </a:pPr>
            <a:r>
              <a:rPr sz="1300" b="1">
                <a:solidFill>
                  <a:srgbClr val="333333"/>
                </a:solidFill>
                <a:latin typeface="Calibri"/>
              </a:rPr>
              <a:t>• Audit &amp; Transparency: </a:t>
            </a:r>
            <a:r>
              <a:rPr sz="1300" b="0">
                <a:solidFill>
                  <a:srgbClr val="333333"/>
                </a:solidFill>
                <a:latin typeface="Calibri"/>
              </a:rPr>
              <a:t>Immutable transaction log, anomaly detection, CSV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Rewards Marketplace — Digital, Café &amp; In-Person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Digital Storefront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Visual catalog with images, point costs, descriptions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Categories: Merchandise, Cafeteria Meals, Gift Cards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Real-time point balance during browsing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One-tap redemption with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Café Cashier Redemption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Tablet-friendly cashier interface for meal redemptions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Employee lookup by name, badge ID, or QR code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Balance display → meal selection → point deduction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No POS integration required — standalone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In-Person Store &amp; QR Redemption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166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Employee QR code on profile / home screen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Store attendant scans QR → select item → confirm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Inventory sync: physical store + digital storefront</a:t>
            </a:r>
          </a:p>
        </p:txBody>
      </p:sp>
      <p:pic>
        <p:nvPicPr>
          <p:cNvPr id="10" name="Picture 9" descr="rewar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217920" cy="3461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Paycom Integration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Paycom HRIS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Primary: SFTP nightly file export (CSV/XML)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Python ETL service parses &amp; syncs to Supabase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Auto-provision new hires, deactivate terminations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Sync: Employee ID, name, email, program, hire date, DOB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Discrepancy reports flagged for HR review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Optional: REST API enhancement (if subscription supports)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502920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Paycom → SFTP Export → AWS S3 → Python ETL</a:t>
            </a:r>
            <a:br/>
            <a:r>
              <a:t>          ↓</a:t>
            </a:r>
            <a:br/>
            <a:r>
              <a:t>    Supabase (PostgreSQL)</a:t>
            </a:r>
            <a:br/>
            <a:r>
              <a:t>          ↓</a:t>
            </a:r>
            <a:br/>
            <a:r>
              <a:t>    React Front End (Live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Three Login Paths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1234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➀  Badge ID + PIN (Frontline Staff)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Paycom badge ID — the ID they already carry daily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Self-set 4–6 digit PIN, no email required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Hashed/salted PINs, lockout after 5 failed attempts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00400"/>
            <a:ext cx="502920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➁  Google Workspace SSO (Admin &amp; Mgmt)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Supabase Auth: SAML 2.0, OAuth 2.0, OIDC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• Future: Microsoft Entra ID — zero-downtime migration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434840"/>
            <a:ext cx="50292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➂  Email / Password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For part-time or seasonal staff with email but not on SSO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Guardian authentication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303520"/>
            <a:ext cx="50292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53492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Every employee can access the platform —</a:t>
            </a:r>
            <a:br/>
            <a:r>
              <a:t>no matter their tech level or email situation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Dashboards — Employee &amp;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C1"/>
                </a:solidFill>
                <a:latin typeface="Calibri"/>
              </a:defRPr>
            </a:pPr>
            <a:r>
              <a:t>Employee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C1"/>
                </a:solidFill>
                <a:latin typeface="Calibri"/>
              </a:defRPr>
            </a:pPr>
            <a:r>
              <a:t>Leadership Console</a:t>
            </a:r>
          </a:p>
        </p:txBody>
      </p:sp>
      <p:pic>
        <p:nvPicPr>
          <p:cNvPr id="6" name="Picture 5" descr="rew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417320"/>
            <a:ext cx="5486400" cy="3054631"/>
          </a:xfrm>
          <a:prstGeom prst="rect">
            <a:avLst/>
          </a:prstGeom>
        </p:spPr>
      </p:pic>
      <p:pic>
        <p:nvPicPr>
          <p:cNvPr id="7" name="Picture 6" descr="reward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5486400" cy="30546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Points Balance  •  Wall of Fame  •  Quick Nominate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Total Points  •  Engagement Rate  •  QA Pending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74920"/>
            <a:ext cx="12191695" cy="6400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Calibri"/>
              </a:defRPr>
            </a:pPr>
            <a:r>
              <a:t>All dashboards are real-time  •  Mobile-first  •  Accessible on any device  •  Role-based visibility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Phased Implementation — 36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874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1: Foundation  (Weeks 1–12)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2560320"/>
            <a:ext cx="3200400" cy="548640"/>
          </a:xfrm>
          <a:prstGeom prst="rect">
            <a:avLst/>
          </a:prstGeom>
          <a:solidFill>
            <a:srgbClr val="14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2: Engagement  (Weeks 13–24)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3291840"/>
            <a:ext cx="32004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3: Marketplace  (Weeks 25–36)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Phase 1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Nomination engine + ranked-choice committee voting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QA queue with revise-and-resubmit workflow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Paycom SFTP sync + audit trail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Auth: Badge ID + PIN, Google SSO, email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735A"/>
                </a:solidFill>
                <a:latin typeface="Calibri"/>
              </a:defRPr>
            </a:pPr>
            <a:r>
              <a:t>Phase 2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54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Employee &amp; leadership dashboards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Dark mode / light mode toggle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TAC RSVP, culture groups, volunteer forms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Social media engagement (screenshot)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Push/email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Phase 3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Digital rewards storefront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Café cashier redemption screen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In-person store QR code scanning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Gift card instant delivery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Inventory management &amp; fulfillment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Pricing — Option A: Source-Code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The Arc Mercer owns all source code, database, and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3657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7556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737360"/>
            <a:ext cx="1371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1755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371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55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48840"/>
            <a:ext cx="3657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2167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Phase 1: Nominations, Voting, Paycom, Badge ID Auth, SSO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4884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1671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~480 hrs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4884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1671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$45,000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560320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2578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Phase 2: Dashboards, Engagement Modules, Dark Mode,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5603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5786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~310 hrs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5786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$35,000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971800"/>
            <a:ext cx="3657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0" y="2990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Phase 3: Marketplace, Café Redemption, QR Store, Gift Cards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97180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2990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~280 hrs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97180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2990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$30,000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3832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63040" y="3401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 Implementation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3383280"/>
            <a:ext cx="13716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0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~1,070 hrs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83280"/>
            <a:ext cx="13716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$110,000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Blended rate: ~$103/hr — well below $150-250/hr industry 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Annual Recurring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AWS hosting/CDN/monitoring: $6,000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Supabase Pro Plan: $3,000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SSL &amp; domain: $200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Maintenance &amp; support: $12,000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Total annual: $21,200/year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4572000"/>
            <a:ext cx="3657600" cy="10972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79" y="4663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Year 1 Total: $131,200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Year 2+: $21,200/year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94360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★  AI-assisted add-ons INCLUDED — LLM usage fee only (pass-through)  |  Custom development available upon request  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Pricing — Option B (SaaS) &amp; Option C (Shared Ownership)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2743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Option B: IoTeye-Hosted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Implementation fee: $0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Subscription: $3,000/month ($36,000/year)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3-year minimum commitment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IoTeye retains all source code ownership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Hosting, maintenance, updates all included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9496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Option C: Shared Ownership (Hybrid)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Implementation fee: $55,000 (50% of full build)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Annual platform fee: $36,000/year (managed service)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Arc Mercer &amp; IoTeye share recognition platform code (50/50)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Excludes: BrainBook, SpringBoard, Guardian, BrainClaw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Reuse rights deferred to agreement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0507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AI-assisted add-ons INCLUDED — LLM usage fee only (pass-through)  |  Custom development available upon request 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Option A vs. B vs. C — Cost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937760"/>
            <a:ext cx="201168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4946904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08960" y="4937760"/>
            <a:ext cx="23774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82112" y="4946904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A: Own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937760"/>
            <a:ext cx="23774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59552" y="4946904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B: SaaS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4937760"/>
            <a:ext cx="237744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6992" y="4946904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C: Shared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257800"/>
            <a:ext cx="20116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0432" y="52669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Upfront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5257800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82112" y="52669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$110,000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5257800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9552" y="52669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5257800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36992" y="526694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$55,000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550408"/>
            <a:ext cx="2011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0432" y="555955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5550408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82112" y="5559552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$21,200/yr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5550408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9552" y="5559552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$36,000/yr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5550408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36992" y="5559552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$36,000/yr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5843016"/>
            <a:ext cx="20116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70432" y="5852160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3-Year Total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5843016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82112" y="585216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$173,600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5843016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9552" y="585216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$108,000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5843016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36992" y="585216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$163,000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7280" y="6135624"/>
            <a:ext cx="2011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70432" y="614476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5-Year Total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6135624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182112" y="6144768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$216,000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6135624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559552" y="6144768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$180,000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6135624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36992" y="6144768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$235,000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7280" y="6428232"/>
            <a:ext cx="20116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70432" y="643737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Code Ownership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6428232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82112" y="6437376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Full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6428232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559552" y="6437376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6428232"/>
            <a:ext cx="237744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36992" y="6437376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50/50 recognition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Comparison — How We Stack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37 features evaluated across all 3 proposals submitted for this RFP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645920"/>
            <a:ext cx="10972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16642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IoTeye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45920"/>
            <a:ext cx="12801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6642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Proposal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12801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Proposal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29968"/>
            <a:ext cx="3474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0482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Nomination &amp; Recognition (6)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029968"/>
            <a:ext cx="109728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20482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7A4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029968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0482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029968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0482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414016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4323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Selection &amp; Voting (3)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414016"/>
            <a:ext cx="109728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2432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7A4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41401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0" y="24323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41401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24323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798064"/>
            <a:ext cx="3474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8163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Authentication &amp; Access (5)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798064"/>
            <a:ext cx="109728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0" y="2816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7A4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798064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80" y="2816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798064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816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182112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200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Engagement &amp; Participation (6)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182112"/>
            <a:ext cx="109728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0" y="3200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7A4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318211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12080" y="3200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18211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200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566160"/>
            <a:ext cx="3474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35844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Rewards &amp; Redemption (5)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3566160"/>
            <a:ext cx="109728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0" y="35844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7A4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3566160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0" y="3584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566160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3584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950208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39684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Analytics, AI &amp; Reporting (4)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3360" y="3950208"/>
            <a:ext cx="109728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800" y="39684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7A4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395020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12080" y="39684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395020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92240" y="39684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34256"/>
            <a:ext cx="3474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4352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Technical &amp; Infrastructure (8)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60" y="4334256"/>
            <a:ext cx="109728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14800" y="435254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7A4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4334256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12080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4334256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92240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718304"/>
            <a:ext cx="347472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4736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4718304"/>
            <a:ext cx="1097280" cy="384048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14800" y="47365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36 / 37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4718304"/>
            <a:ext cx="128016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12080" y="47365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21 / 37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4718304"/>
            <a:ext cx="128016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92240" y="47365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18 / 37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63840" y="1645920"/>
            <a:ext cx="4023360" cy="345643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04672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IoTeye-Exclusive Advantages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194560"/>
            <a:ext cx="365760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BrainClaw AI — 94+ tools already in production at Arc Mercer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Badge ID + PIN login for frontline staff without email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WCAG AAA accessibility (7:1 contrast, screen reader tested)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AWS HIPAA-eligible infrastructure, 99.9% uptime SLA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Severity-based SLAs (Critical: 2hr response)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Source code ownership option (Option A)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Multi-IDP SSO migration path (Google → Microsoft)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Anomaly detection &amp; immutable audit trails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5669280"/>
            <a:ext cx="12191695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★  36 of 37 features — Magic Link excluded (Badge ID + PIN better serves frontline staff)  |  10 features added, all within $110K budget  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IoTeye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Why We're the Right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5+ years in special care software — we know your workforce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Arc Mercer is an existing </a:t>
            </a:r>
            <a:r>
              <a:rPr dirty="0" err="1"/>
              <a:t>IoTeye</a:t>
            </a:r>
            <a:r>
              <a:rPr dirty="0"/>
              <a:t> customer (</a:t>
            </a:r>
            <a:r>
              <a:rPr dirty="0" err="1"/>
              <a:t>SpringBoard</a:t>
            </a:r>
            <a:r>
              <a:rPr dirty="0"/>
              <a:t> &amp; Guardian)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BrainClaw</a:t>
            </a:r>
            <a:r>
              <a:rPr dirty="0"/>
              <a:t> AI agents already in </a:t>
            </a:r>
            <a:r>
              <a:rPr lang="en-US" dirty="0"/>
              <a:t>trials</a:t>
            </a:r>
            <a:r>
              <a:rPr dirty="0"/>
              <a:t> at Arc Mercer (37+57 tools)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In-house Paycom &amp; Guardian integration experience at Arc Mercer, not a cold start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Three flexible pricing options: full ownership, SaaS, or </a:t>
            </a:r>
            <a:r>
              <a:rPr lang="en-US" dirty="0"/>
              <a:t>Shared Partner</a:t>
            </a:r>
            <a:r>
              <a:rPr dirty="0"/>
              <a:t> (50/50)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AI-assisted add-ons FREE — pay only AI LLM usage (pass-through)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Select pricing option (A, B, or C)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Schedule kickoff &amp; discovery workshop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Initiate Paycom SFTP access setup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Configure Google Workspace SSO + Badge ID mapping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Phase One live in 12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389120"/>
            <a:ext cx="457200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Contact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937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IoTeye Inc.</a:t>
            </a:r>
            <a:br/>
            <a:r>
              <a:t>Basking Ridge, New Jersey</a:t>
            </a:r>
            <a:br/>
            <a:r>
              <a:t>mingjye.sheng@ioteyeinc.com</a:t>
            </a:r>
            <a:br/>
            <a:r>
              <a:t>www.ioteyeinc.com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86C1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D218-7648-A835-BF1D-5E94332C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2F36C0-0597-3777-2AF0-0028740E26B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F4B28-8A63-B57C-9E98-3BCF999B28C2}"/>
              </a:ext>
            </a:extLst>
          </p:cNvPr>
          <p:cNvSpPr txBox="1"/>
          <p:nvPr/>
        </p:nvSpPr>
        <p:spPr>
          <a:xfrm>
            <a:off x="731520" y="1828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E8F14-C83E-A845-B8CF-91DEB6D0AF6B}"/>
              </a:ext>
            </a:extLst>
          </p:cNvPr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Why We're the Right Partner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5D3F8-0D85-DAB5-503F-51E8CACEEDFB}"/>
              </a:ext>
            </a:extLst>
          </p:cNvPr>
          <p:cNvSpPr txBox="1"/>
          <p:nvPr/>
        </p:nvSpPr>
        <p:spPr>
          <a:xfrm>
            <a:off x="731520" y="1737360"/>
            <a:ext cx="502920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6</a:t>
            </a:r>
            <a:r>
              <a:rPr dirty="0"/>
              <a:t>+ years in special care software — we know your workforce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Arc Mercer is an existing </a:t>
            </a:r>
            <a:r>
              <a:rPr dirty="0" err="1"/>
              <a:t>IoTeye</a:t>
            </a:r>
            <a:r>
              <a:rPr dirty="0"/>
              <a:t> customer (</a:t>
            </a:r>
            <a:r>
              <a:rPr dirty="0" err="1"/>
              <a:t>SpringBoard</a:t>
            </a:r>
            <a:r>
              <a:rPr dirty="0"/>
              <a:t> &amp; Guardian)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Brain</a:t>
            </a:r>
            <a:r>
              <a:rPr lang="en-US" dirty="0"/>
              <a:t>Book</a:t>
            </a:r>
            <a:r>
              <a:rPr dirty="0"/>
              <a:t> AI agents already in </a:t>
            </a:r>
            <a:r>
              <a:rPr lang="en-US" dirty="0"/>
              <a:t>trials</a:t>
            </a:r>
            <a:r>
              <a:rPr dirty="0"/>
              <a:t> at Arc Mercer (37+57 tools)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In-house Paycom </a:t>
            </a:r>
            <a:r>
              <a:rPr lang="en-US" dirty="0"/>
              <a:t>&amp; Springboard </a:t>
            </a:r>
            <a:r>
              <a:rPr dirty="0"/>
              <a:t>&amp; Guardian integration experience at Arc Mercer, not a cold start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Shared Ownership on </a:t>
            </a:r>
            <a:r>
              <a:rPr lang="en-US"/>
              <a:t>IP</a:t>
            </a:r>
            <a:r>
              <a:t> </a:t>
            </a:r>
            <a:r>
              <a:rPr lang="en-US"/>
              <a:t>and Monthly Maintenance </a:t>
            </a:r>
            <a:r>
              <a:rPr lang="en-US" dirty="0"/>
              <a:t>C</a:t>
            </a:r>
            <a:r>
              <a:rPr lang="en-US"/>
              <a:t>ost</a:t>
            </a: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• AI-assisted add-ons FREE — pay only AI LLM usage (pass-through)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BD282-C2C4-26C8-A4F8-36A9C4C9075A}"/>
              </a:ext>
            </a:extLst>
          </p:cNvPr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6C9A3-CE73-6DEE-F1E0-13521823EDEC}"/>
              </a:ext>
            </a:extLst>
          </p:cNvPr>
          <p:cNvSpPr txBox="1"/>
          <p:nvPr/>
        </p:nvSpPr>
        <p:spPr>
          <a:xfrm>
            <a:off x="6400800" y="2008108"/>
            <a:ext cx="5029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Schedule kickoff &amp; discovery workshop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Phase One live in 12 weeks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A045E5-2D8F-DE52-0C4B-F37900BF1FAE}"/>
              </a:ext>
            </a:extLst>
          </p:cNvPr>
          <p:cNvSpPr/>
          <p:nvPr/>
        </p:nvSpPr>
        <p:spPr>
          <a:xfrm>
            <a:off x="6400800" y="4389120"/>
            <a:ext cx="457200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F0BDC-64D5-BC28-103D-DEBB404DCD33}"/>
              </a:ext>
            </a:extLst>
          </p:cNvPr>
          <p:cNvSpPr txBox="1"/>
          <p:nvPr/>
        </p:nvSpPr>
        <p:spPr>
          <a:xfrm>
            <a:off x="667512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Contact 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03A22-0CF7-9A41-CC19-5FBCB4C54FF2}"/>
              </a:ext>
            </a:extLst>
          </p:cNvPr>
          <p:cNvSpPr txBox="1"/>
          <p:nvPr/>
        </p:nvSpPr>
        <p:spPr>
          <a:xfrm>
            <a:off x="6675120" y="4937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IoTeye Inc.</a:t>
            </a:r>
            <a:br/>
            <a:r>
              <a:t>Basking Ridge, New Jersey</a:t>
            </a:r>
            <a:br/>
            <a:r>
              <a:t>mingjye.sheng@ioteyeinc.com</a:t>
            </a:r>
            <a:br/>
            <a:r>
              <a:t>www.ioteyeinc.com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A4DD3-1919-28F7-B55B-BC9AA6868C60}"/>
              </a:ext>
            </a:extLst>
          </p:cNvPr>
          <p:cNvSpPr txBox="1"/>
          <p:nvPr/>
        </p:nvSpPr>
        <p:spPr>
          <a:xfrm>
            <a:off x="731520" y="5669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86C1"/>
                </a:solidFill>
                <a:latin typeface="Calibri"/>
              </a:defRPr>
            </a:pPr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047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2407</Words>
  <Application>Microsoft Office PowerPoint</Application>
  <PresentationFormat>Widescreen</PresentationFormat>
  <Paragraphs>340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Ming-Jye Sheng</cp:lastModifiedBy>
  <cp:revision>6</cp:revision>
  <dcterms:created xsi:type="dcterms:W3CDTF">2013-01-27T09:14:16Z</dcterms:created>
  <dcterms:modified xsi:type="dcterms:W3CDTF">2026-09-22T14:57:33Z</dcterms:modified>
  <cp:category/>
</cp:coreProperties>
</file>