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29260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D6EAF8"/>
                </a:solidFill>
                <a:latin typeface="Calibri"/>
              </a:defRPr>
            </a:pPr>
            <a:r>
              <a:t>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Employee Engagement &amp;</a:t>
            </a:r>
            <a:br/>
            <a:r>
              <a:t>Recognition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Proposal for The Arc Mercer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AF8"/>
                </a:solidFill>
                <a:latin typeface="Calibri"/>
              </a:defRPr>
            </a:pPr>
            <a:r>
              <a:t>April 2026  |  Basking Ridge, NJ  |  www.ioteyeinc.com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r>
              <a:t>1.  About IoTeye &amp; Platform Ecosystem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 BrainClaw AI Agents — Already at Arc Mercer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 Understanding Your Challenge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 Platform Overview &amp; Architecture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 Key Features (Nominations → Engagement → Marketplace)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6.  Integration, Authentication &amp; Accessibility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7.  Dashboards — Employee &amp; Leadership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8.  Implementation Timeline &amp; Pricing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9.  Feature Comparison — How We Stack Up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10. Why IoTeye —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About 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Remote software company — Basking Ridge, NJ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5+ years building special care software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1,000+ consumers across our platforms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Core domain: Special Care sector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Full-stack SaaS expertise: design → deploy →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Our 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SpringBoard: Multi-agency route management &amp; operations (route opt., fleet, Twilio SMS, multi-tenant)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BrainBook: AI platform — Next.js/React/TypeScript, Supabase, AI agents, voice I/O, desktop &amp; web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Guardian: Notification system — SMS, push notifications, reply tracking, iOS &amp; Android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BrainClaw: AI agent gateway (GPT-4.1) — 37-tool SpringBoard agent &amp; 57-tool Samsara agent live at Arc Mercer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Total Agency Services for Special Care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Special Care Cloud (AWS)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Market: 6,000+ special care agencies in the USA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Agentic AI Platform — Cloud, Desktop, Mobile, IoT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Personal AI assistants for agency workflows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Apps for Parent/Guardian, Consumer/Patient, Staff/Driver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IoT: OBD, DashCam, Minew Proximity, Home Assistant Green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Samsara App Partner — fleet telematics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HIPAA-compliant AI inference servers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2801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Platform Products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87451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SpringBoard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14883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Route/Fleet — paratransit ops, multi-tenant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5175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Guardian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92607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Notifications — SMS, push, reply tracking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2899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70331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Platform — desktop, web, mobile, voice I/O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20623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BrainClaw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8055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Agents — 94+ tools, GPT-4.1, Arc Mercer live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BrainClaw AI Agents — Already at Arc Mercer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In Production at Arc Mercer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Powered by BrainClaw + GPT-4.1 (GitHub Copilot)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 Agent — 37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Routes, fleet, consumers, optimization, SMS, GPS, SOS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Samsara Agent — 57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Vehicles, drivers, HOS, safety events, DVIRs, GPS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69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Arc Mercer staff use natural language today: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480560"/>
            <a:ext cx="5486400" cy="1828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52628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"Optimize routes for Weekday AM"</a:t>
            </a:r>
            <a:br/>
            <a:r>
              <a:t>"Where is vehicle 147 right now?"</a:t>
            </a:r>
            <a:br/>
            <a:r>
              <a:t>"SMS all Residential drivers — 10 min delay"</a:t>
            </a:r>
            <a:br/>
            <a:r>
              <a:t>"Generate daily manifest for Arc Mercer"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097280"/>
            <a:ext cx="5577840" cy="53035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1887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Extending to Recognition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6916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Natural language for HR &amp; leadership: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4884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"Which program had most nominations last month?"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"Who hasn't been recognized in 60+ days?"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"Flag unusual point bestowals this week"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"Generate Q1 engagement report as CSV"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"What's our engagement score this month?"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5303520"/>
            <a:ext cx="5303520" cy="7315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534924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Optional add-on — same BrainBook UI Arc Mercer already uses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Understanding Your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The Arc Mercer's Current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Manual recognition processes — inconsistent, hard to track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Multiple programs (Residential, Day Programs) operating in silos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Frontline staff with varying technical literacy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Many frontline DSPs lack company email addresses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Selection committee uses ranked-choice voting — no digital tool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centralized system for nominations or point tracking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connection to Paycom HRIS for employee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What You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Centralized, web-based recognition platform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Program-based competition engine with committee voting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Multi-stream point system with audit trails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Rewards marketplace — digital, café, and in-person store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Paycom integration &amp; flexible auth (SSO + Badge ID + PIN)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Community engagement: TAC, culture groups, volunteering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Mobile-first, accessible to all staff (incl. dark mode)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Our Solution — 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Custom-Built SaaS — Tailored for The Arc Mercer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901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React + TypeScript PWA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6771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Mobile-first responsive design, offline capable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880360"/>
            <a:ext cx="9144000" cy="91440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9535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Supabase (PostgreSQL)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31927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Auth, real-time subscriptions, Row Level 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931920"/>
            <a:ext cx="9144000" cy="91440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400507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Python (FastAPI)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37083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Paycom SFTP sync, gift card APIs, scheduled jobs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983480"/>
            <a:ext cx="9144000" cy="9144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505663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AWS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4223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ECS Fargate, CloudFront, S3, WAF, CloudWatch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Security: AES-256 at rest  |  TLS 1.3 in transit  |  WCAG AAA  |  Full audit logging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Nominations, Voting &amp; QA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Nominations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3 award types: Employee of the Month, Rising Star, Team Impact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Step-by-step guided form with large buttons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1 nomination per candidate/month, 5 total/month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Selection Committee Voting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661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Ranked-choice drag-and-drop voting interface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Private ballots — not visible until window closes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Automated tally (Borda count / weighted rank)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Per-voter audit trail &amp; historical ballot archive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937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QA Queue &amp; Revise-Resubmit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949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Approve / Return for Edits / Decline with batch operations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Formal resubmission loop: status tracking through full cycle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Admin comments → nominator notification → edit &amp; resubmit</a:t>
            </a:r>
          </a:p>
        </p:txBody>
      </p:sp>
      <p:pic>
        <p:nvPicPr>
          <p:cNvPr id="10" name="Picture 9" descr="reward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Points, Engagement &amp; Community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Multi-Stream Point Accrual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640080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3794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Point 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83794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Trigger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76272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8541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Employee / Rising Star / Team Impact (Approved)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18541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QA queue approval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523744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Attendance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532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Admin check-in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871216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Role Completion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8803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Role fulfilled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218688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278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Culture Group Participation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2278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Leader/admin log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566160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57530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Volunteer / Event Help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57530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Post-event confirmation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913632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92277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Social Media Engagement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92277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Screenshot 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261104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2702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Newsletter Trivia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27024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Correct answer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608576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6177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Birthday / Anniversary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46177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Automated (Paycom)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4956048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9651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Leadership Bestowal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49651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Manual award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440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All point values are admin-configurable — no code changes needed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280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Community Engagement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sz="1300" b="1">
                <a:solidFill>
                  <a:srgbClr val="333333"/>
                </a:solidFill>
                <a:latin typeface="Calibri"/>
              </a:rPr>
              <a:t>• TAC RSVP &amp; Role Sign-Ups: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RSVP workflow, role selection (setup, check-in, cleanup), automated reminders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Culture Groups: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Self-service directory, one-tap sign-up, attendance tracking, participation points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Volunteer Forms: </a:t>
            </a:r>
            <a:r>
              <a:rPr sz="1300" b="0">
                <a:solidFill>
                  <a:srgbClr val="333333"/>
                </a:solidFill>
                <a:latin typeface="Calibri"/>
              </a:rPr>
              <a:t>Event help board, volunteer slots, completion tracking, engagement score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Social Media: </a:t>
            </a:r>
            <a:r>
              <a:rPr sz="1300" b="0">
                <a:solidFill>
                  <a:srgbClr val="333333"/>
                </a:solidFill>
                <a:latin typeface="Calibri"/>
              </a:rPr>
              <a:t>Screenshot upload, admin review queue, campaign tracking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Audit &amp; Transparency: </a:t>
            </a:r>
            <a:r>
              <a:rPr sz="1300" b="0">
                <a:solidFill>
                  <a:srgbClr val="333333"/>
                </a:solidFill>
                <a:latin typeface="Calibri"/>
              </a:rPr>
              <a:t>Immutable transaction log, anomaly detection, CSV export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Rewards Marketplace — Digital, Café &amp; In-Person 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Digital Storefront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Visual catalog with images, point costs, descriptions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Categories: Merchandise, Cafeteria Meals, Gift Cards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Real-time point balance during browsing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One-tap redemption with confirmation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063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Café Cashier Redemption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2044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Tablet-friendly cashier interface for meal redemptions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Employee lookup by name, badge ID, or QR code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Balance display → meal selection → point deduction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No POS integration required — standalone operation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In-Person Store &amp; QR Redemption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1663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Employee QR code on profile / home screen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Store attendant scans QR → select item → confirm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Inventory sync: physical store + digital storefront</a:t>
            </a:r>
          </a:p>
        </p:txBody>
      </p:sp>
      <p:pic>
        <p:nvPicPr>
          <p:cNvPr id="10" name="Picture 9" descr="reward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Paycom Integration &amp;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Paycom HRIS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Primary: SFTP nightly file export (CSV/XML)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Python ETL service parses &amp; syncs to Supabase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Auto-provision new hires, deactivate terminations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Sync: Employee ID, name, email, program, hire date, DOB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Discrepancy reports flagged for HR review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Optional: REST API enhancement (if subscription supports)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389120"/>
            <a:ext cx="502920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Paycom → SFTP Export → AWS S3 → Python ETL</a:t>
            </a:r>
            <a:br/>
            <a:r>
              <a:t>          ↓</a:t>
            </a:r>
            <a:br/>
            <a:r>
              <a:t>    Supabase (PostgreSQL)</a:t>
            </a:r>
            <a:br/>
            <a:r>
              <a:t>          ↓</a:t>
            </a:r>
            <a:br/>
            <a:r>
              <a:t>    React Front End (Live Data)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Three Login Paths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5029200" cy="12344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➀  Badge ID + PIN (Frontline Staff)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Paycom badge ID — the ID they already carry daily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Self-set 4–6 digit PIN, no email required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Hashed/salted PINs, lockout after 5 failed attempts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200400"/>
            <a:ext cx="5029200" cy="10972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3246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➁  Google Workspace SSO (Admin &amp; Mgmt)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5661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Supabase Auth: SAML 2.0, OAuth 2.0, OIDC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Future: Microsoft Entra ID — zero-downtime migration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434840"/>
            <a:ext cx="5029200" cy="8229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480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➂  Email / Password Fallback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8006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For part-time or seasonal staff with email but not on SSO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Guardian authentication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5303520"/>
            <a:ext cx="5029200" cy="7315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53492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Every employee can access the platform —</a:t>
            </a:r>
            <a:br/>
            <a:r>
              <a:t>no matter their tech level or email situation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Dashboards — Employee &amp;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Employee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379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Leadership Console</a:t>
            </a:r>
          </a:p>
        </p:txBody>
      </p:sp>
      <p:pic>
        <p:nvPicPr>
          <p:cNvPr id="6" name="Picture 5" descr="rew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417320"/>
            <a:ext cx="5486400" cy="3054631"/>
          </a:xfrm>
          <a:prstGeom prst="rect">
            <a:avLst/>
          </a:prstGeom>
        </p:spPr>
      </p:pic>
      <p:pic>
        <p:nvPicPr>
          <p:cNvPr id="7" name="Picture 6" descr="reward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417320"/>
            <a:ext cx="5486400" cy="30546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Points Balance  •  Wall of Fame  •  Quick Nominate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Total Points  •  Engagement Rate  •  QA Pending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074920"/>
            <a:ext cx="12191695" cy="6400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B2A4A"/>
                </a:solidFill>
                <a:latin typeface="Calibri"/>
              </a:defRPr>
            </a:pPr>
            <a:r>
              <a:t>All dashboards are real-time  •  Mobile-first  •  Accessible on any device  •  Role-based visibility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Phased Implementation — 36 Weeks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438912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1874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1: Foundation  (Weeks 1–12)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2560320"/>
            <a:ext cx="3200400" cy="54864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2606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2: Engagement  (Weeks 13–24)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3291840"/>
            <a:ext cx="3200400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3375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3: Marketplace  (Weeks 25–36)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86C1"/>
                </a:solidFill>
                <a:latin typeface="Calibri"/>
              </a:defRPr>
            </a:pPr>
            <a:r>
              <a:t>Phase 1 Deliverables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Nomination engine + ranked-choice committee voting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QA queue with revise-and-resubmit workflow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Paycom SFTP sync + audit trail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Auth: Badge ID + PIN, Google SSO, email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735A"/>
                </a:solidFill>
                <a:latin typeface="Calibri"/>
              </a:defRPr>
            </a:pPr>
            <a:r>
              <a:t>Phase 2 Deliverables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Employee &amp; leadership dashboards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Dark mode / light mode toggle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TAC RSVP, culture groups, volunteer forms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Social media engagement (screenshot)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Push/email notifications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Phase 3 Deliverables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Digital rewards storefront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Café cashier redemption screen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In-person store QR code scanning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Gift card instant delivery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Inventory management &amp; fulfillment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A: Source-Code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The Arc Mercer owns all source code, database, and IP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737360"/>
            <a:ext cx="3657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75564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Hours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14884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16712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1: Nominations, Voting, Paycom, Badge ID Auth, 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~480 hrs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$45,000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2560320"/>
            <a:ext cx="3657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257860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2: Dashboards, Engagement Modules, Dark Mode, Notifications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~310 hrs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$35,000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297180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29900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3: Marketplace, Café Redemption, QR Store, Gift Cards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~280 hrs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$30,000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3383280"/>
            <a:ext cx="3657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34015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Total Implementation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~1,070 hrs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862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Blended rate: ~$103/hr — well below $150-250/hr industry standard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7373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Annual Recurring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22860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AWS hosting/CDN/monitoring: $6,000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Supabase Pro Plan: $3,000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SSL &amp; domain: $200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Maintenance &amp; support: $12,000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Total annual: $21,200/year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4572000"/>
            <a:ext cx="3657600" cy="10972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79" y="46634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1 Total: $131,200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5029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2+: $21,200/year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AI-assisted add-ons INCLUDED — LLM usage fee only (pass-through)  |  Major redesigns not covered  ★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B (SaaS) &amp; Option C (Shared Ownership)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27432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B: IoTeye-Hosted SaaS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$0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Subscription: $2,500/month ($30,000/year)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3-year minimum commitment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IoTeye retains all source code ownership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Hosting, maintenance, updates all included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274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C: Shared Ownership (Hybrid)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$55,000 (50% of full build)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Annual platform fee: $30,000/year (managed service)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&amp; IoTeye share recognition platform code (50/50)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Excludes: BrainBook, SpringBoard, Guardian, BrainClaw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Reuse rights deferred to agreement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023360"/>
            <a:ext cx="1143000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05079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★  AI-assisted add-ons INCLUDED — LLM usage fee only (pass-through)  |  Major redesigns not covered  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Option A vs. B vs. C — Cost Comparison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4937760"/>
            <a:ext cx="201168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946904"/>
            <a:ext cx="1865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310896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A: Own 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55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B: SaaS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C: Shared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7280" y="5257800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70432" y="5266944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Upfront Cost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8211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5955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$55,000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97280" y="5550408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5559552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Annual Cost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8211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$21,200/yr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5955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$30,000/yr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3699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$30,000/yr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5843016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70432" y="5852160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3-Year Total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0896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8211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$173,600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5955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$90,000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3699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$145,000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7280" y="6135624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0432" y="6144768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5-Year Total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0896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8211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$216,000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5955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$150,000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3699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$205,000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97280" y="6428232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0432" y="6437376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Code Ownership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8211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55955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None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6384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93699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50/50 recognition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Feature Comparison — How We Stack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37 features evaluated across all 3 proposals submitted for this RFP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6420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1645920"/>
            <a:ext cx="109728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16642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IoTeye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29968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04825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Nomination &amp; Recognition (6)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02996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204825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414016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43230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Selection &amp; Voting (3)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241401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43230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798064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8163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Authentication &amp; Access (5)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2798064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0" y="281635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182112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20040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Engagement &amp; Participation (6)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360" y="3182112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0" y="320040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3566160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358444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Rewards &amp; Redemption (5)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23360" y="3566160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0" y="358444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2064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1208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950208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396849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Analytics, AI &amp; Reporting (4)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23360" y="395020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14800" y="396849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2064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1208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9224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4334256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43525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Technical &amp; Infrastructure (8)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23360" y="433425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0" y="435254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12064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1208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9224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4718304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473659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TOTAL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023360" y="4718304"/>
            <a:ext cx="1097280" cy="384048"/>
          </a:xfrm>
          <a:prstGeom prst="rect">
            <a:avLst/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4800" y="473659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36 / 37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2064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1208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21 / 37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080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9224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18 / 37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863840" y="1645920"/>
            <a:ext cx="4023360" cy="41148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0" y="17373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IoTeye-Exclusive Advantages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19456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BrainClaw AI — 94+ tools already in production at Arc Mercer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Badge ID + PIN login for frontline staff without email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WCAG AAA accessibility (7:1 contrast, screen reader tested)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AWS HIPAA-eligible infrastructure, 99.9% uptime SLA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Severity-based SLAs (Critical: 2hr response)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Source code ownership option (Option A)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Multi-IDP SSO migration path (Google → Microsoft)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Anomaly detection &amp; immutable audit trails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36 of 37 features — Magic Link excluded (Badge ID + PIN better serves frontline staff)  |  10 features added, all within $110K budget  ★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IoTeye —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Why We're the Right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5+ years in special care software — we know your workforce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is an existing SpringBoard &amp; Guardian customer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 AI agents already running at Arc Mercer (37+57 tools)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Badge ID + PIN login for frontline staff without email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Ranked-choice committee voting — matching your current process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Full engagement suite: TAC RSVP, culture groups, volunteering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Café cashier screen + in-person store QR redemption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Dark mode for night-shift staff at group homes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WCAG AAA accessibility — 7:1 contrast, screen reader tested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AI-assisted add-ons FREE — pay only AI LLM usage (pass-through)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Select pricing option (A, B, or C)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Schedule kickoff &amp; discovery workshop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Initiate Paycom SFTP access setup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Configure Google Workspace SSO + Badge ID mapping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Phase One live in 12 weeks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4389120"/>
            <a:ext cx="4572000" cy="18288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4480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2A4A"/>
                </a:solidFill>
                <a:latin typeface="Calibri"/>
              </a:defRPr>
            </a:pPr>
            <a:r>
              <a:t>Contact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93776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IoTeye Inc.</a:t>
            </a:r>
            <a:br/>
            <a:r>
              <a:t>Basking Ridge, New Jersey</a:t>
            </a:r>
            <a:br/>
            <a:r>
              <a:t>mingjye.sheng@ioteyeinc.com</a:t>
            </a:r>
            <a:br/>
            <a:r>
              <a:t>www.ioteyeinc.com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2E86C1"/>
                </a:solidFill>
                <a:latin typeface="Calibri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