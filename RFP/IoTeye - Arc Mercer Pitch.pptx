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286000"/>
            <a:ext cx="12191695" cy="292608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486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D6EAF8"/>
                </a:solidFill>
                <a:latin typeface="Calibri"/>
              </a:defRPr>
            </a:pPr>
            <a:r>
              <a:t>IoTeye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46888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Calibri"/>
              </a:defRPr>
            </a:pPr>
            <a:r>
              <a:t>Employee Engagement &amp;</a:t>
            </a:r>
            <a:br/>
            <a:r>
              <a:t>Recognition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FFFFF"/>
                </a:solidFill>
                <a:latin typeface="Calibri"/>
              </a:defRPr>
            </a:pPr>
            <a:r>
              <a:t>Proposal for The Arc Mercer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6692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D6EAF8"/>
                </a:solidFill>
                <a:latin typeface="Calibri"/>
              </a:defRPr>
            </a:pPr>
            <a:r>
              <a:t>April 2026  |  Basking Ridge, NJ  |  www.ioteyeinc.com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463040"/>
            <a:ext cx="9144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2200" b="0">
                <a:solidFill>
                  <a:srgbClr val="333333"/>
                </a:solidFill>
                <a:latin typeface="Calibri"/>
              </a:defRPr>
            </a:pPr>
            <a:r>
              <a:t>1.  About IoTeye &amp; Platform Ecosystem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2.  BrainClaw AI Agents — Already at Arc Mercer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3.  Understanding Your Challenge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4.  Platform Overview &amp; Architecture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5.  Key Features (Nominations → Engagement → Marketplace)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6.  Integration, Authentication &amp; Accessibility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7.  Dashboards — Employee &amp; Leadership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8.  Implementation Timeline &amp; Pricing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9.  Feature Comparison — How We Stack Up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10. Why IoTeye — Next Steps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About IoTeye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E86C1"/>
                </a:solidFill>
                <a:latin typeface="Calibri"/>
              </a:defRPr>
            </a:pPr>
            <a:r>
              <a:t>Who We 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• Remote software company — Basking Ridge, NJ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5+ years building special care software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1,000+ consumers across our platforms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Core domain: Special Care sector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Full-stack SaaS expertise: design → deploy → support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E86C1"/>
                </a:solidFill>
                <a:latin typeface="Calibri"/>
              </a:defRPr>
            </a:pPr>
            <a:r>
              <a:t>Our Products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5303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SpringBoard: Multi-agency route management &amp; operations (route opt., fleet, Twilio SMS, multi-tenant)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BrainBook: AI platform — Next.js/React/TypeScript, Supabase, AI agents, voice I/O, desktop &amp; web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Guardian: Notification system — SMS, push notifications, reply tracking, iOS &amp; Android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BrainClaw: AI agent gateway (GPT-4.1) — 37-tool SpringBoard agent &amp; 57-tool Samsara agent live at Arc Mercer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Total Agency Services for Special Care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188720"/>
            <a:ext cx="5394960" cy="50292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280160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E86C1"/>
                </a:solidFill>
                <a:latin typeface="Calibri"/>
              </a:defRPr>
            </a:pPr>
            <a:r>
              <a:t>Special Care Cloud (AWS)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78308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t>• Market: 6,000+ special care agencies in the USA</a:t>
            </a:r>
          </a:p>
          <a:p>
            <a:pPr>
              <a:spcAft>
                <a:spcPts val="8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Agentic AI Platform — Cloud, Desktop, Mobile, IoT</a:t>
            </a:r>
          </a:p>
          <a:p>
            <a:pPr>
              <a:spcAft>
                <a:spcPts val="8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Personal AI assistants for agency workflows</a:t>
            </a:r>
          </a:p>
          <a:p>
            <a:pPr>
              <a:spcAft>
                <a:spcPts val="8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Apps for Parent/Guardian, Consumer/Patient, Staff/Driver</a:t>
            </a:r>
          </a:p>
          <a:p>
            <a:pPr>
              <a:spcAft>
                <a:spcPts val="8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IoT: OBD, DashCam, Minew Proximity, Home Assistant Green</a:t>
            </a:r>
          </a:p>
          <a:p>
            <a:pPr>
              <a:spcAft>
                <a:spcPts val="8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Samsara App Partner — fleet telematics</a:t>
            </a:r>
          </a:p>
          <a:p>
            <a:pPr>
              <a:spcAft>
                <a:spcPts val="8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HIPAA-compliant AI inference servers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1188720"/>
            <a:ext cx="5394960" cy="50292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29400" y="128016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E86C1"/>
                </a:solidFill>
                <a:latin typeface="Calibri"/>
              </a:defRPr>
            </a:pPr>
            <a:r>
              <a:t>Platform Products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29400" y="1874519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E86C1"/>
                </a:solidFill>
                <a:latin typeface="Calibri"/>
              </a:defRPr>
            </a:pPr>
            <a:r>
              <a:t>SpringBoard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2148839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Route/Fleet — paratransit ops, multi-tenant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2651759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E86C1"/>
                </a:solidFill>
                <a:latin typeface="Calibri"/>
              </a:defRPr>
            </a:pPr>
            <a:r>
              <a:t>Guardian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2926079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Notifications — SMS, push, reply tracking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3428999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E86C1"/>
                </a:solidFill>
                <a:latin typeface="Calibri"/>
              </a:defRPr>
            </a:pPr>
            <a:r>
              <a:t>BrainBook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3703319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AI Platform — desktop, web, mobile, voice I/O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4206239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E86C1"/>
                </a:solidFill>
                <a:latin typeface="Calibri"/>
              </a:defRPr>
            </a:pPr>
            <a:r>
              <a:t>BrainClaw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4480559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AI Agents — 94+ tools, GPT-4.1, Arc Mercer live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BrainClaw AI Agents — Already at Arc Mercer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E86C1"/>
                </a:solidFill>
                <a:latin typeface="Calibri"/>
              </a:defRPr>
            </a:pPr>
            <a:r>
              <a:t>In Production at Arc Mercer Today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459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Calibri"/>
              </a:defRPr>
            </a:pPr>
            <a:r>
              <a:t>Powered by BrainClaw + GPT-4.1 (GitHub Copilot)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057400"/>
            <a:ext cx="54864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SpringBoard Agent — 37 tools</a:t>
            </a:r>
          </a:p>
          <a:p>
            <a:pPr>
              <a:spcAft>
                <a:spcPts val="5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  Routes, fleet, consumers, optimization, SMS, GPS, SOS</a:t>
            </a:r>
          </a:p>
          <a:p>
            <a:pPr>
              <a:spcAft>
                <a:spcPts val="5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Samsara Agent — 57 tools</a:t>
            </a:r>
          </a:p>
          <a:p>
            <a:pPr>
              <a:spcAft>
                <a:spcPts val="5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  Vehicles, drivers, HOS, safety events, DVIRs, GPS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0690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33333"/>
                </a:solidFill>
                <a:latin typeface="Calibri"/>
              </a:defRPr>
            </a:pPr>
            <a:r>
              <a:t>Arc Mercer staff use natural language today: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4480560"/>
            <a:ext cx="5486400" cy="18288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4526280"/>
            <a:ext cx="52120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onsolas"/>
              </a:defRPr>
            </a:pPr>
            <a:r>
              <a:t>"Optimize routes for Weekday AM"</a:t>
            </a:r>
            <a:br/>
            <a:r>
              <a:t>"Where is vehicle 147 right now?"</a:t>
            </a:r>
            <a:br/>
            <a:r>
              <a:t>"SMS all Residential drivers — 10 min delay"</a:t>
            </a:r>
            <a:br/>
            <a:r>
              <a:t>"Generate daily manifest for Arc Mercer"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1097280"/>
            <a:ext cx="5577840" cy="530352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18872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B2A4A"/>
                </a:solidFill>
                <a:latin typeface="Calibri"/>
              </a:defRPr>
            </a:pPr>
            <a:r>
              <a:t>Extending to Recognition Platform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169164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33333"/>
                </a:solidFill>
                <a:latin typeface="Calibri"/>
              </a:defRPr>
            </a:pPr>
            <a:r>
              <a:t>Natural language for HR &amp; leadership: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48840"/>
            <a:ext cx="52120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"Which program had most nominations last month?"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"Who hasn't been recognized in 60+ days?"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"Flag unusual point bestowals this week"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"Generate Q1 engagement report as CSV"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"What's our engagement score this month?"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0" y="5303520"/>
            <a:ext cx="5303520" cy="73152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5349240"/>
            <a:ext cx="4937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★ Optional add-on — same BrainBook UI Arc Mercer already uses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Understanding Your Challenge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E86C1"/>
                </a:solidFill>
                <a:latin typeface="Calibri"/>
              </a:defRPr>
            </a:pPr>
            <a:r>
              <a:t>The Arc Mercer's Current State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• Manual recognition processes — inconsistent, hard to track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Multiple programs (Residential, Day Programs) operating in silos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Frontline staff with varying technical literacy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Many frontline DSPs lack company email addresses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Selection committee uses ranked-choice voting — no digital tool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No centralized system for nominations or point tracking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No connection to Paycom HRIS for employee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E86C1"/>
                </a:solidFill>
                <a:latin typeface="Calibri"/>
              </a:defRPr>
            </a:pPr>
            <a:r>
              <a:t>What You Need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92024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• Centralized, web-based recognition platform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Program-based competition engine with committee voting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Multi-stream point system with audit trails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Rewards marketplace — digital, café, and in-person store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Paycom integration &amp; flexible auth (SSO + Badge ID + PIN)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Community engagement: TAC, culture groups, volunteering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Mobile-first, accessible to all staff (incl. dark mode)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Our Solution — Platform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Custom-Built SaaS — Tailored for The Arc Mercer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1828800"/>
            <a:ext cx="9144000" cy="9144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0" y="1901952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React + TypeScript PWA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2267712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Mobile-first responsive design, offline capable</a:t>
            </a:r>
          </a:p>
        </p:txBody>
      </p:sp>
      <p:sp>
        <p:nvSpPr>
          <p:cNvPr id="8" name="Rectangle 7"/>
          <p:cNvSpPr/>
          <p:nvPr/>
        </p:nvSpPr>
        <p:spPr>
          <a:xfrm>
            <a:off x="1371600" y="2880360"/>
            <a:ext cx="9144000" cy="914400"/>
          </a:xfrm>
          <a:prstGeom prst="rect">
            <a:avLst/>
          </a:prstGeom>
          <a:solidFill>
            <a:srgbClr val="1A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28800" y="2953512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Supabase (PostgreSQL)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3319272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Auth, real-time subscriptions, Row Level Security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371600" y="3931920"/>
            <a:ext cx="9144000" cy="914400"/>
          </a:xfrm>
          <a:prstGeom prst="rect">
            <a:avLst/>
          </a:prstGeom>
          <a:solidFill>
            <a:srgbClr val="147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828800" y="4005072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Python (FastAPI)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4370832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Paycom SFTP sync, gift card APIs, scheduled jobs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71600" y="4983480"/>
            <a:ext cx="9144000" cy="91440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828800" y="5056632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AWS Cloud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5422392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ECS Fargate, CloudFront, S3, WAF, CloudWatch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943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66666"/>
                </a:solidFill>
                <a:latin typeface="Calibri"/>
              </a:defRPr>
            </a:pPr>
            <a:r>
              <a:t>Security: AES-256 at rest  |  TLS 1.3 in transit  |  WCAG AAA  |  Full audit logging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Nominations, Voting &amp; QA Engine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8872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Nominations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691640"/>
            <a:ext cx="5029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3 award types: Employee of the Month, Rising Star, Team Impact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Step-by-step guided form with large buttons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1 nomination per candidate/month, 5 total/month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10896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Selection Committee Voting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356616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Ranked-choice drag-and-drop voting interface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Private ballots — not visible until window closes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Automated tally (Borda count / weighted rank)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Per-voter audit trail &amp; historical ballot archive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493776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QA Queue &amp; Revise-Resubmit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5394960"/>
            <a:ext cx="5029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Approve / Return for Edits / Decline with batch operations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Formal resubmission loop: status tracking through full cycle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Admin comments → nominator notification → edit &amp; resubmit</a:t>
            </a:r>
          </a:p>
        </p:txBody>
      </p:sp>
      <p:pic>
        <p:nvPicPr>
          <p:cNvPr id="10" name="Picture 9" descr="reward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1371600"/>
            <a:ext cx="6217920" cy="346191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Points, Engagement &amp; Community Modules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Multi-Stream Point Accrual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828800"/>
            <a:ext cx="6400800" cy="347472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837944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Point Stream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1837944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Trigger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176272"/>
            <a:ext cx="64008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85416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Employee / Rising Star / Team Impact (Approved)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0" y="2185416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QA queue approval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523744"/>
            <a:ext cx="6400800" cy="34747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532888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TAC Meeting Attendance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0" y="2532888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Admin check-in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2871216"/>
            <a:ext cx="64008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288036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TAC Meeting Role Completion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288036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Role fulfilled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3218688"/>
            <a:ext cx="6400800" cy="34747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3227832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Culture Group Participation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0" y="3227832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Leader/admin log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3566160"/>
            <a:ext cx="64008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3575304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Volunteer / Event Help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0" y="3575304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Post-event confirmation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" y="3913632"/>
            <a:ext cx="6400800" cy="34747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3922776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Social Media Engagement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0" y="3922776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Screenshot review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4261104"/>
            <a:ext cx="64008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4270248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Newsletter Trivia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0" y="4270248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Correct answer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31520" y="4608576"/>
            <a:ext cx="6400800" cy="34747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" y="461772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Birthday / Anniversary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0" y="461772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Automated (Paycom)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31520" y="4956048"/>
            <a:ext cx="64008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960" y="4965192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Leadership Bestowal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0" y="4965192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Manual award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544068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7AE60"/>
                </a:solidFill>
                <a:latin typeface="Calibri"/>
              </a:defRPr>
            </a:pPr>
            <a:r>
              <a:t>All point values are admin-configurable — no code changes needed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0" y="12801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Community Engagement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0" y="182880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rPr sz="1300" b="1">
                <a:solidFill>
                  <a:srgbClr val="333333"/>
                </a:solidFill>
                <a:latin typeface="Calibri"/>
              </a:rPr>
              <a:t>• TAC RSVP &amp; Role Sign-Ups: </a:t>
            </a:r>
            <a:r>
              <a:rPr sz="1300" b="0">
                <a:solidFill>
                  <a:srgbClr val="333333"/>
                </a:solidFill>
                <a:latin typeface="Calibri"/>
              </a:rPr>
              <a:t>RSVP workflow, role selection (setup, check-in, cleanup), automated reminders</a:t>
            </a:r>
          </a:p>
          <a:p>
            <a:pPr>
              <a:spcAft>
                <a:spcPts val="1000"/>
              </a:spcAft>
              <a:defRPr sz="1300"/>
            </a:pPr>
            <a:r>
              <a:rPr sz="1300" b="1">
                <a:solidFill>
                  <a:srgbClr val="333333"/>
                </a:solidFill>
                <a:latin typeface="Calibri"/>
              </a:rPr>
              <a:t>• Culture Groups: </a:t>
            </a:r>
            <a:r>
              <a:rPr sz="1300" b="0">
                <a:solidFill>
                  <a:srgbClr val="333333"/>
                </a:solidFill>
                <a:latin typeface="Calibri"/>
              </a:rPr>
              <a:t>Self-service directory, one-tap sign-up, attendance tracking, participation points</a:t>
            </a:r>
          </a:p>
          <a:p>
            <a:pPr>
              <a:spcAft>
                <a:spcPts val="1000"/>
              </a:spcAft>
              <a:defRPr sz="1300"/>
            </a:pPr>
            <a:r>
              <a:rPr sz="1300" b="1">
                <a:solidFill>
                  <a:srgbClr val="333333"/>
                </a:solidFill>
                <a:latin typeface="Calibri"/>
              </a:rPr>
              <a:t>• Volunteer Forms: </a:t>
            </a:r>
            <a:r>
              <a:rPr sz="1300" b="0">
                <a:solidFill>
                  <a:srgbClr val="333333"/>
                </a:solidFill>
                <a:latin typeface="Calibri"/>
              </a:rPr>
              <a:t>Event help board, volunteer slots, completion tracking, engagement score</a:t>
            </a:r>
          </a:p>
          <a:p>
            <a:pPr>
              <a:spcAft>
                <a:spcPts val="1000"/>
              </a:spcAft>
              <a:defRPr sz="1300"/>
            </a:pPr>
            <a:r>
              <a:rPr sz="1300" b="1">
                <a:solidFill>
                  <a:srgbClr val="333333"/>
                </a:solidFill>
                <a:latin typeface="Calibri"/>
              </a:rPr>
              <a:t>• Social Media: </a:t>
            </a:r>
            <a:r>
              <a:rPr sz="1300" b="0">
                <a:solidFill>
                  <a:srgbClr val="333333"/>
                </a:solidFill>
                <a:latin typeface="Calibri"/>
              </a:rPr>
              <a:t>Screenshot upload, admin review queue, campaign tracking</a:t>
            </a:r>
          </a:p>
          <a:p>
            <a:pPr>
              <a:spcAft>
                <a:spcPts val="1000"/>
              </a:spcAft>
              <a:defRPr sz="1300"/>
            </a:pPr>
            <a:r>
              <a:rPr sz="1300" b="1">
                <a:solidFill>
                  <a:srgbClr val="333333"/>
                </a:solidFill>
                <a:latin typeface="Calibri"/>
              </a:rPr>
              <a:t>• Audit &amp; Transparency: </a:t>
            </a:r>
            <a:r>
              <a:rPr sz="1300" b="0">
                <a:solidFill>
                  <a:srgbClr val="333333"/>
                </a:solidFill>
                <a:latin typeface="Calibri"/>
              </a:rPr>
              <a:t>Immutable transaction log, anomaly detection, CSV export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Rewards Marketplace — Digital, Café &amp; In-Person Store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8872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Digital Storefront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69164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Visual catalog with images, point costs, descriptions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Categories: Merchandise, Cafeteria Meals, Gift Cards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Real-time point balance during browsing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One-tap redemption with confirmation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06324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Café Cashier Redemption Screen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3520440"/>
            <a:ext cx="50292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Tablet-friendly cashier interface for meal redemptions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Employee lookup by name, badge ID, or QR code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Balance display → meal selection → point deduction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No POS integration required — standalone operation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470916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In-Person Store &amp; QR Redemption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5166360"/>
            <a:ext cx="50292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Employee QR code on profile / home screen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Store attendant scans QR → select item → confirm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Inventory sync: physical store + digital storefront</a:t>
            </a:r>
          </a:p>
        </p:txBody>
      </p:sp>
      <p:pic>
        <p:nvPicPr>
          <p:cNvPr id="10" name="Picture 9" descr="reward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1371600"/>
            <a:ext cx="6217920" cy="346191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Paycom Integration &amp; Authentication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E86C1"/>
                </a:solidFill>
                <a:latin typeface="Calibri"/>
              </a:defRPr>
            </a:pPr>
            <a:r>
              <a:t>Paycom HRIS Integration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  <a:r>
              <a:t>• Primary: SFTP nightly file export (CSV/XML)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Python ETL service parses &amp; syncs to Supabase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Auto-provision new hires, deactivate terminations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Sync: Employee ID, name, email, program, hire date, DOB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Discrepancy reports flagged for HR review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Optional: REST API enhancement (if subscription supports)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4389120"/>
            <a:ext cx="5029200" cy="20116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480560"/>
            <a:ext cx="47548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onsolas"/>
              </a:defRPr>
            </a:pPr>
            <a:r>
              <a:t>Paycom → SFTP Export → AWS S3 → Python ETL</a:t>
            </a:r>
            <a:br/>
            <a:r>
              <a:t>          ↓</a:t>
            </a:r>
            <a:br/>
            <a:r>
              <a:t>    Supabase (PostgreSQL)</a:t>
            </a:r>
            <a:br/>
            <a:r>
              <a:t>          ↓</a:t>
            </a:r>
            <a:br/>
            <a:r>
              <a:t>    React Front End (Live Data)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E86C1"/>
                </a:solidFill>
                <a:latin typeface="Calibri"/>
              </a:defRPr>
            </a:pPr>
            <a:r>
              <a:t>Three Login Paths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1828800"/>
            <a:ext cx="5029200" cy="123444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1874519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2A4A"/>
                </a:solidFill>
                <a:latin typeface="Calibri"/>
              </a:defRPr>
            </a:pPr>
            <a:r>
              <a:t>➀  Badge ID + PIN (Frontline Staff)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194560"/>
            <a:ext cx="4754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t>• Paycom badge ID — the ID they already carry daily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Self-set 4–6 digit PIN, no email required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Hashed/salted PINs, lockout after 5 failed attempts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3200400"/>
            <a:ext cx="5029200" cy="10972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60" y="324612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2A4A"/>
                </a:solidFill>
                <a:latin typeface="Calibri"/>
              </a:defRPr>
            </a:pPr>
            <a:r>
              <a:t>➁  Google Workspace SSO (Admin &amp; Mgmt)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3566160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t>• Supabase Auth: SAML 2.0, OAuth 2.0, OIDC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Future: Microsoft Entra ID — zero-downtime migration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4434840"/>
            <a:ext cx="5029200" cy="8229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7960" y="448056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2A4A"/>
                </a:solidFill>
                <a:latin typeface="Calibri"/>
              </a:defRPr>
            </a:pPr>
            <a:r>
              <a:t>➂  Email / Password Fallback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480060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t>• For part-time or seasonal staff with email but not on SSO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Guardian authentication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0" y="5303520"/>
            <a:ext cx="5029200" cy="73152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37960" y="5349240"/>
            <a:ext cx="4754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★ Every employee can access the platform —</a:t>
            </a:r>
            <a:br/>
            <a:r>
              <a:t>no matter their tech level or email situation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Dashboards — Employee &amp; Leadership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" y="105156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2E86C1"/>
                </a:solidFill>
                <a:latin typeface="Calibri"/>
              </a:defRPr>
            </a:pPr>
            <a:r>
              <a:t>Employee Dashboard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37960" y="105156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2E86C1"/>
                </a:solidFill>
                <a:latin typeface="Calibri"/>
              </a:defRPr>
            </a:pPr>
            <a:r>
              <a:t>Leadership Console</a:t>
            </a:r>
          </a:p>
        </p:txBody>
      </p:sp>
      <p:pic>
        <p:nvPicPr>
          <p:cNvPr id="6" name="Picture 5" descr="reward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1417320"/>
            <a:ext cx="5486400" cy="3054631"/>
          </a:xfrm>
          <a:prstGeom prst="rect">
            <a:avLst/>
          </a:prstGeom>
        </p:spPr>
      </p:pic>
      <p:pic>
        <p:nvPicPr>
          <p:cNvPr id="7" name="Picture 6" descr="reward_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7960" y="1417320"/>
            <a:ext cx="5486400" cy="305463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37160" y="46177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66666"/>
                </a:solidFill>
                <a:latin typeface="Calibri"/>
              </a:defRPr>
            </a:pPr>
            <a:r>
              <a:t>Points Balance  •  Wall of Fame  •  Quick Nominate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37960" y="46177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66666"/>
                </a:solidFill>
                <a:latin typeface="Calibri"/>
              </a:defRPr>
            </a:pPr>
            <a:r>
              <a:t>Total Points  •  Engagement Rate  •  QA Pending Review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5074920"/>
            <a:ext cx="12191695" cy="64008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51206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1B2A4A"/>
                </a:solidFill>
                <a:latin typeface="Calibri"/>
              </a:defRPr>
            </a:pPr>
            <a:r>
              <a:t>All dashboards are real-time  •  Mobile-first  •  Accessible on any device  •  Role-based visibility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Phased Implementation — 36 Weeks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828800"/>
            <a:ext cx="4389120" cy="5486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554480" y="187452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Phase 1: Foundation  (Weeks 1–12)</a:t>
            </a:r>
          </a:p>
        </p:txBody>
      </p:sp>
      <p:sp>
        <p:nvSpPr>
          <p:cNvPr id="6" name="Rectangle 5"/>
          <p:cNvSpPr/>
          <p:nvPr/>
        </p:nvSpPr>
        <p:spPr>
          <a:xfrm>
            <a:off x="4846320" y="2560320"/>
            <a:ext cx="3200400" cy="548640"/>
          </a:xfrm>
          <a:prstGeom prst="rect">
            <a:avLst/>
          </a:prstGeom>
          <a:solidFill>
            <a:srgbClr val="147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0" y="260604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Phase 2: Engagement  (Weeks 13–24)</a:t>
            </a:r>
          </a:p>
        </p:txBody>
      </p:sp>
      <p:sp>
        <p:nvSpPr>
          <p:cNvPr id="8" name="Rectangle 7"/>
          <p:cNvSpPr/>
          <p:nvPr/>
        </p:nvSpPr>
        <p:spPr>
          <a:xfrm>
            <a:off x="8046720" y="3291840"/>
            <a:ext cx="3200400" cy="54864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333756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Phase 3: Marketplace  (Weeks 25–36)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38912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E86C1"/>
                </a:solidFill>
                <a:latin typeface="Calibri"/>
              </a:defRPr>
            </a:pPr>
            <a:r>
              <a:t>Phase 1 Deliverables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754880"/>
            <a:ext cx="3474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t>• Nomination engine + ranked-choice committee voting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QA queue with revise-and-resubmit workflow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Paycom SFTP sync + audit trail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Auth: Badge ID + PIN, Google SSO, email fallback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438912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4735A"/>
                </a:solidFill>
                <a:latin typeface="Calibri"/>
              </a:defRPr>
            </a:pPr>
            <a:r>
              <a:t>Phase 2 Deliverables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4754880"/>
            <a:ext cx="3474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t>• Employee &amp; leadership dashboards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Dark mode / light mode toggle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TAC RSVP, culture groups, volunteer forms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Social media engagement (screenshot)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Push/email notifications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438912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67E22"/>
                </a:solidFill>
                <a:latin typeface="Calibri"/>
              </a:defRPr>
            </a:pPr>
            <a:r>
              <a:t>Phase 3 Deliverables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4754880"/>
            <a:ext cx="3474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t>• Digital rewards storefront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Café cashier redemption screen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In-person store QR code scanning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Gift card instant delivery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Inventory management &amp; fulfillment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Pricing — Option A: Source-Code Ownership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7AE60"/>
                </a:solidFill>
                <a:latin typeface="Calibri"/>
              </a:defRPr>
            </a:pPr>
            <a:r>
              <a:t>The Arc Mercer owns all source code, database, and IP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1737360"/>
            <a:ext cx="3657600" cy="41148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63040" y="1755648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Phase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0" y="1737360"/>
            <a:ext cx="1371600" cy="41148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20640" y="175564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Hours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1737360"/>
            <a:ext cx="1371600" cy="41148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75564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Cost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371600" y="2148840"/>
            <a:ext cx="365760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63040" y="2167128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Phase 1: Nominations, Voting, Paycom, Badge ID Auth, SSO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0" y="2148840"/>
            <a:ext cx="137160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20640" y="216712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~480 hrs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2148840"/>
            <a:ext cx="137160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216712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$45,000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371600" y="2560320"/>
            <a:ext cx="365760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63040" y="2578608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Phase 2: Dashboards, Engagement Modules, Dark Mode, Notifications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0" y="2560320"/>
            <a:ext cx="137160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20640" y="257860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~310 hrs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0" y="2560320"/>
            <a:ext cx="137160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0" y="257860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$35,000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371600" y="2971800"/>
            <a:ext cx="365760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463040" y="2990088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Phase 3: Marketplace, Café Redemption, QR Store, Gift Cards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0" y="2971800"/>
            <a:ext cx="137160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20640" y="299008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~280 hrs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0" y="2971800"/>
            <a:ext cx="137160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92240" y="299008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$30,000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371600" y="3383280"/>
            <a:ext cx="3657600" cy="4114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463040" y="3401568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Total Implementation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0" y="3383280"/>
            <a:ext cx="1371600" cy="4114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120640" y="340156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~1,070 hrs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0" y="3383280"/>
            <a:ext cx="1371600" cy="4114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92240" y="340156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$110,000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71600" y="38862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7AE60"/>
                </a:solidFill>
                <a:latin typeface="Calibri"/>
              </a:defRPr>
            </a:pPr>
            <a:r>
              <a:t>Blended rate: ~$103/hr — well below $150-250/hr industry standard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0" y="17373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E86C1"/>
                </a:solidFill>
                <a:latin typeface="Calibri"/>
              </a:defRPr>
            </a:pPr>
            <a:r>
              <a:t>Annual Recurring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0" y="2286000"/>
            <a:ext cx="4114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AWS hosting/CDN/monitoring: $6,000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Supabase Pro Plan: $3,000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SSL &amp; domain: $200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Maintenance &amp; support: $12,000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Total annual: $21,200/year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772400" y="4572000"/>
            <a:ext cx="3657600" cy="109728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955279" y="466344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2A4A"/>
                </a:solidFill>
                <a:latin typeface="Calibri"/>
              </a:defRPr>
            </a:pPr>
            <a:r>
              <a:t>Year 1 Total: $131,200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955279" y="502920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2A4A"/>
                </a:solidFill>
                <a:latin typeface="Calibri"/>
              </a:defRPr>
            </a:pPr>
            <a:r>
              <a:t>Year 2+: $21,200/year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5943600"/>
            <a:ext cx="12191695" cy="64008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57200" y="5989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★  AI-assisted add-ons INCLUDED — LLM usage fee only (pass-through)  |  Major redesigns not covered  ★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Pricing — Option B (SaaS) &amp; Option C (Shared Ownership)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188720"/>
            <a:ext cx="5394960" cy="274320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B2A4A"/>
                </a:solidFill>
                <a:latin typeface="Calibri"/>
              </a:defRPr>
            </a:pPr>
            <a:r>
              <a:t>Option B: IoTeye-Hosted SaaS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50292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Implementation fee: $0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Subscription: $2,500/month ($30,000/year)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3-year minimum commitment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IoTeye retains all source code ownership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Hosting, maintenance, updates all included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1188720"/>
            <a:ext cx="5394960" cy="27432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123444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B2A4A"/>
                </a:solidFill>
                <a:latin typeface="Calibri"/>
              </a:defRPr>
            </a:pPr>
            <a:r>
              <a:t>Option C: Shared Ownership (Hybrid)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1691640"/>
            <a:ext cx="50292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Implementation fee: $55,000 (50% of full build)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Annual platform fee: $30,000/year (managed service)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Arc Mercer &amp; IoTeye share recognition platform code (50/50)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Excludes: BrainBook, SpringBoard, Guardian, BrainClaw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Reuse rights deferred to agreement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4023360"/>
            <a:ext cx="11430000" cy="41148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4050791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★  AI-assisted add-ons INCLUDED — LLM usage fee only (pass-through)  |  Major redesigns not covered  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45720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2A4A"/>
                </a:solidFill>
                <a:latin typeface="Calibri"/>
              </a:defRPr>
            </a:pPr>
            <a:r>
              <a:t>Option A vs. B vs. C — Cost Comparison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97280" y="4937760"/>
            <a:ext cx="2011680" cy="3200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70432" y="4946904"/>
            <a:ext cx="18653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</a:p>
        </p:txBody>
      </p:sp>
      <p:sp>
        <p:nvSpPr>
          <p:cNvPr id="15" name="Rectangle 14"/>
          <p:cNvSpPr/>
          <p:nvPr/>
        </p:nvSpPr>
        <p:spPr>
          <a:xfrm>
            <a:off x="3108960" y="4937760"/>
            <a:ext cx="2377440" cy="3200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182112" y="4946904"/>
            <a:ext cx="22311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A: Own Code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0" y="4937760"/>
            <a:ext cx="2377440" cy="3200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59552" y="4946904"/>
            <a:ext cx="22311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B: SaaS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863840" y="4937760"/>
            <a:ext cx="2377440" cy="3200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36992" y="4946904"/>
            <a:ext cx="22311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C: Shared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97280" y="5257800"/>
            <a:ext cx="2011680" cy="2926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70432" y="5266944"/>
            <a:ext cx="186537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33333"/>
                </a:solidFill>
                <a:latin typeface="Calibri"/>
              </a:defRPr>
            </a:pPr>
            <a:r>
              <a:t>Upfront Cost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108960" y="5257800"/>
            <a:ext cx="2377440" cy="2926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182112" y="5266944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$110,000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0" y="5257800"/>
            <a:ext cx="2377440" cy="2926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559552" y="5266944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$0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863840" y="5257800"/>
            <a:ext cx="2377440" cy="2926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36992" y="5266944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$55,000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97280" y="5550408"/>
            <a:ext cx="201168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70432" y="5559552"/>
            <a:ext cx="186537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33333"/>
                </a:solidFill>
                <a:latin typeface="Calibri"/>
              </a:defRPr>
            </a:pPr>
            <a:r>
              <a:t>Annual Cost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08960" y="5550408"/>
            <a:ext cx="237744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182112" y="5559552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$21,200/yr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0" y="5550408"/>
            <a:ext cx="237744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559552" y="5559552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$30,000/yr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863840" y="5550408"/>
            <a:ext cx="237744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936992" y="5559552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$30,000/yr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097280" y="5843016"/>
            <a:ext cx="2011680" cy="2926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70432" y="5852160"/>
            <a:ext cx="186537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33333"/>
                </a:solidFill>
                <a:latin typeface="Calibri"/>
              </a:defRPr>
            </a:pPr>
            <a:r>
              <a:t>3-Year Total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108960" y="5843016"/>
            <a:ext cx="2377440" cy="2926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182112" y="5852160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$173,600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486400" y="5843016"/>
            <a:ext cx="2377440" cy="2926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559552" y="5852160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$90,000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863840" y="5843016"/>
            <a:ext cx="2377440" cy="2926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936992" y="5852160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$145,000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97280" y="6135624"/>
            <a:ext cx="201168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70432" y="6144768"/>
            <a:ext cx="186537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33333"/>
                </a:solidFill>
                <a:latin typeface="Calibri"/>
              </a:defRPr>
            </a:pPr>
            <a:r>
              <a:t>5-Year Total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108960" y="6135624"/>
            <a:ext cx="237744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182112" y="6144768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$216,000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486400" y="6135624"/>
            <a:ext cx="237744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559552" y="6144768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$150,000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863840" y="6135624"/>
            <a:ext cx="237744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936992" y="6144768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$205,000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097280" y="6428232"/>
            <a:ext cx="2011680" cy="2926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170432" y="6437376"/>
            <a:ext cx="186537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33333"/>
                </a:solidFill>
                <a:latin typeface="Calibri"/>
              </a:defRPr>
            </a:pPr>
            <a:r>
              <a:t>Code Ownership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108960" y="6428232"/>
            <a:ext cx="2377440" cy="2926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182112" y="6437376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Full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486400" y="6428232"/>
            <a:ext cx="2377440" cy="2926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559552" y="6437376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None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863840" y="6428232"/>
            <a:ext cx="2377440" cy="2926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936992" y="6437376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50/50 recognition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Feature Comparison — How We Stack 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66666"/>
                </a:solidFill>
                <a:latin typeface="Calibri"/>
              </a:defRPr>
            </a:pPr>
            <a:r>
              <a:t>37 features evaluated across all 3 proposals submitted for this RFP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45920"/>
            <a:ext cx="3474720" cy="384048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64208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Category</a:t>
            </a:r>
          </a:p>
        </p:txBody>
      </p:sp>
      <p:sp>
        <p:nvSpPr>
          <p:cNvPr id="7" name="Rectangle 6"/>
          <p:cNvSpPr/>
          <p:nvPr/>
        </p:nvSpPr>
        <p:spPr>
          <a:xfrm>
            <a:off x="4023360" y="1645920"/>
            <a:ext cx="1097280" cy="384048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0" y="1664208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IoTeye</a:t>
            </a:r>
          </a:p>
        </p:txBody>
      </p:sp>
      <p:sp>
        <p:nvSpPr>
          <p:cNvPr id="9" name="Rectangle 8"/>
          <p:cNvSpPr/>
          <p:nvPr/>
        </p:nvSpPr>
        <p:spPr>
          <a:xfrm>
            <a:off x="5120640" y="1645920"/>
            <a:ext cx="1280160" cy="384048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12080" y="1664208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Proposal 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645920"/>
            <a:ext cx="1280160" cy="384048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64208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Proposal 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029968"/>
            <a:ext cx="347472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048256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Nomination &amp; Recognition (6)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023360" y="2029968"/>
            <a:ext cx="1097280" cy="384048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0" y="2048256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B7A43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20640" y="2029968"/>
            <a:ext cx="128016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12080" y="2048256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0" y="2029968"/>
            <a:ext cx="128016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2048256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2414016"/>
            <a:ext cx="347472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2432304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Selection &amp; Voting (3)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2414016"/>
            <a:ext cx="1097280" cy="384048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0" y="2432304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B7A43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20640" y="2414016"/>
            <a:ext cx="12801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212080" y="2432304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0" y="2414016"/>
            <a:ext cx="12801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92240" y="2432304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2798064"/>
            <a:ext cx="347472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2816352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Authentication &amp; Access (5)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023360" y="2798064"/>
            <a:ext cx="1097280" cy="384048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114800" y="2816352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B7A43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120640" y="2798064"/>
            <a:ext cx="128016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212080" y="2816352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0" y="2798064"/>
            <a:ext cx="128016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92240" y="2816352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" y="3182112"/>
            <a:ext cx="347472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" y="3200400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Engagement &amp; Participation (6)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023360" y="3182112"/>
            <a:ext cx="1097280" cy="384048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0" y="3200400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B7A43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120640" y="3182112"/>
            <a:ext cx="12801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212080" y="3200400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00800" y="3182112"/>
            <a:ext cx="12801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92240" y="3200400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48640" y="3566160"/>
            <a:ext cx="347472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0080" y="3584448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Rewards &amp; Redemption (5)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023360" y="3566160"/>
            <a:ext cx="1097280" cy="384048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0" y="3584448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B7A43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120640" y="3566160"/>
            <a:ext cx="128016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212080" y="3584448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400800" y="3566160"/>
            <a:ext cx="128016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492240" y="3584448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48640" y="3950208"/>
            <a:ext cx="347472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0080" y="3968496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Analytics, AI &amp; Reporting (4)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023360" y="3950208"/>
            <a:ext cx="1097280" cy="384048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114800" y="3968496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B7A43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120640" y="3950208"/>
            <a:ext cx="12801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212080" y="3968496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400800" y="3950208"/>
            <a:ext cx="12801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492240" y="3968496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48640" y="4334256"/>
            <a:ext cx="347472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0080" y="4352544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Technical &amp; Infrastructure (8)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023360" y="4334256"/>
            <a:ext cx="1097280" cy="384048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114800" y="4352544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B7A43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120640" y="4334256"/>
            <a:ext cx="128016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212080" y="4352544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400800" y="4334256"/>
            <a:ext cx="128016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492240" y="4352544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48640" y="4718304"/>
            <a:ext cx="3474720" cy="384048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40080" y="4736592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TOTAL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023360" y="4718304"/>
            <a:ext cx="1097280" cy="384048"/>
          </a:xfrm>
          <a:prstGeom prst="rect">
            <a:avLst/>
          </a:prstGeom>
          <a:solidFill>
            <a:srgbClr val="1B7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114800" y="4736592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36 / 37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120640" y="4718304"/>
            <a:ext cx="1280160" cy="384048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5212080" y="4736592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21 / 37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400800" y="4718304"/>
            <a:ext cx="1280160" cy="384048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92240" y="4736592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18 / 37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863840" y="1645920"/>
            <a:ext cx="4023360" cy="411480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046720" y="173736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2A4A"/>
                </a:solidFill>
                <a:latin typeface="Calibri"/>
              </a:defRPr>
            </a:pPr>
            <a:r>
              <a:t>IoTeye-Exclusive Advantages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194560"/>
            <a:ext cx="36576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  <a:defRPr sz="1200" b="0">
                <a:solidFill>
                  <a:srgbClr val="333333"/>
                </a:solidFill>
                <a:latin typeface="Calibri"/>
              </a:defRPr>
            </a:pPr>
            <a:r>
              <a:t>• BrainClaw AI — 94+ tools already in production at Arc Mercer</a:t>
            </a:r>
          </a:p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• Badge ID + PIN login for frontline staff without email</a:t>
            </a:r>
          </a:p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• WCAG AAA accessibility (7:1 contrast, screen reader tested)</a:t>
            </a:r>
          </a:p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• AWS HIPAA-eligible infrastructure, 99.9% uptime SLA</a:t>
            </a:r>
          </a:p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• Severity-based SLAs (Critical: 2hr response)</a:t>
            </a:r>
          </a:p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• Source code ownership option (Option A)</a:t>
            </a:r>
          </a:p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• Multi-IDP SSO migration path (Google → Microsoft)</a:t>
            </a:r>
          </a:p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• Anomaly detection &amp; immutable audit trails</a:t>
            </a:r>
          </a:p>
        </p:txBody>
      </p:sp>
      <p:sp>
        <p:nvSpPr>
          <p:cNvPr id="80" name="Rectangle 79"/>
          <p:cNvSpPr/>
          <p:nvPr/>
        </p:nvSpPr>
        <p:spPr>
          <a:xfrm>
            <a:off x="0" y="5943600"/>
            <a:ext cx="12191695" cy="64008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7200" y="5989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★  36 of 37 features — Magic Link excluded (Badge ID + PIN better serves frontline staff)  |  10 features added, all within $110K budget  ★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Why IoTeye —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E86C1"/>
                </a:solidFill>
                <a:latin typeface="Calibri"/>
              </a:defRPr>
            </a:pPr>
            <a:r>
              <a:t>Why We're the Right Partner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5+ years in special care software — we know your workforce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Arc Mercer is an existing IoTeye customer (SpringBoard &amp; Guardian)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BrainClaw AI agents already in production at Arc Mercer (37+57 tools)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Unified vendor — one partner for operations, engagement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Three flexible pricing options: full ownership, SaaS, or shared (50/50)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AI-assisted add-ons FREE — pay only AI LLM usage (pass-through)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1887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E86C1"/>
                </a:solidFill>
                <a:latin typeface="Calibri"/>
              </a:defRPr>
            </a:pPr>
            <a:r>
              <a:t>Next Steps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73736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• Select pricing option (A, B, or C)</a:t>
            </a:r>
          </a:p>
          <a:p>
            <a:pPr>
              <a:spcAft>
                <a:spcPts val="12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Schedule kickoff &amp; discovery workshop</a:t>
            </a:r>
          </a:p>
          <a:p>
            <a:pPr>
              <a:spcAft>
                <a:spcPts val="12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Initiate Paycom SFTP access setup</a:t>
            </a:r>
          </a:p>
          <a:p>
            <a:pPr>
              <a:spcAft>
                <a:spcPts val="12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Configure Google Workspace SSO + Badge ID mapping</a:t>
            </a:r>
          </a:p>
          <a:p>
            <a:pPr>
              <a:spcAft>
                <a:spcPts val="12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Phase One live in 12 weeks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4389120"/>
            <a:ext cx="4572000" cy="182880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44805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B2A4A"/>
                </a:solidFill>
                <a:latin typeface="Calibri"/>
              </a:defRPr>
            </a:pPr>
            <a:r>
              <a:t>Contact Us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4937760"/>
            <a:ext cx="4114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IoTeye Inc.</a:t>
            </a:r>
            <a:br/>
            <a:r>
              <a:t>Basking Ridge, New Jersey</a:t>
            </a:r>
            <a:br/>
            <a:r>
              <a:t>mingjye.sheng@ioteyeinc.com</a:t>
            </a:r>
            <a:br/>
            <a:r>
              <a:t>www.ioteyeinc.com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66928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2E86C1"/>
                </a:solidFill>
                <a:latin typeface="Calibri"/>
              </a:defRPr>
            </a:pPr>
            <a:r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