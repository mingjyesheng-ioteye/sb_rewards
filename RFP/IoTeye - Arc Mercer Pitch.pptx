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286000"/>
            <a:ext cx="12191695" cy="29260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48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D6EAF8"/>
                </a:solidFill>
                <a:latin typeface="Calibri"/>
              </a:defRPr>
            </a:pPr>
            <a:r>
              <a:t>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Employee Engagement &amp;</a:t>
            </a:r>
            <a:br/>
            <a:r>
              <a:t>Recognition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Calibri"/>
              </a:defRPr>
            </a:pPr>
            <a:r>
              <a:t>Proposal for The Arc Mercer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6EAF8"/>
                </a:solidFill>
                <a:latin typeface="Calibri"/>
              </a:defRPr>
            </a:pPr>
            <a:r>
              <a:t>April 2026  |  Basking Ridge, NJ  |  www.ioteyeinc.com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2200" b="0">
                <a:solidFill>
                  <a:srgbClr val="333333"/>
                </a:solidFill>
                <a:latin typeface="Calibri"/>
              </a:defRPr>
            </a:pPr>
            <a:r>
              <a:t>1.  About IoTeye &amp; Platform Ecosystem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2.  BrainClaw AI Agents — Already at Arc Mercer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3.  Understanding Your Challenge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4.  Platform Overview &amp; Architecture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5.  Key Features (Nominations → Engagement → Marketplace)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6.  Integration, Authentication &amp; Accessibility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7.  Dashboards — Employee &amp; Leadership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8.  Implementation Timeline &amp; Pricing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9.  Feature Comparison — How We Stack Up</a:t>
            </a:r>
          </a:p>
          <a:p>
            <a:pPr>
              <a:spcAft>
                <a:spcPts val="1000"/>
              </a:spcAft>
              <a:defRPr sz="2200">
                <a:solidFill>
                  <a:srgbClr val="333333"/>
                </a:solidFill>
                <a:latin typeface="Calibri"/>
              </a:defRPr>
            </a:pPr>
            <a:r>
              <a:t>10. Why IoTeye —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About IoTeye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Remote software company — Basking Ridge, NJ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5+ years building special care software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1,000+ consumers across our platforms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Core domain: Special Care sector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Full-stack SaaS expertise: design → deploy →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Our Products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SpringBoard: Multi-agency route management &amp; operations (route opt., fleet, Twilio SMS, multi-tenant)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BrainBook: AI platform — Next.js/React/TypeScript, Supabase, AI agents, voice I/O, desktop &amp; web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Guardian: Notification system — SMS, push notifications, reply tracking, iOS &amp; Android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BrainClaw: AI agent gateway (GPT-4.1) — 37-tool SpringBoard agent &amp; 57-tool Samsara agent live at Arc Mercer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Total Agency Services for Special Care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80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Special Care Cloud (AWS)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8308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Market: 6,000+ special care agencies in the USA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Agentic AI Platform — Cloud, Desktop, Mobile, IoT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Personal AI assistants for agency workflows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Apps for Parent/Guardian, Consumer/Patient, Staff/Driver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IoT: OBD, DashCam, Minew Proximity, Home Assistant Green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Samsara App Partner — fleet telematics</a:t>
            </a:r>
          </a:p>
          <a:p>
            <a:pPr>
              <a:spcAft>
                <a:spcPts val="8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HIPAA-compliant AI inference servers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188720"/>
            <a:ext cx="5394960" cy="5029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12801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86C1"/>
                </a:solidFill>
                <a:latin typeface="Calibri"/>
              </a:defRPr>
            </a:pPr>
            <a:r>
              <a:t>Platform Products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187451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SpringBoard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14883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Route/Fleet — paratransit ops, multi-tenant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65175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Guardian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92607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Notifications — SMS, push, reply tracking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42899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BrainBook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370331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Platform — desktop, web, mobile, voice I/O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206239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86C1"/>
                </a:solidFill>
                <a:latin typeface="Calibri"/>
              </a:defRPr>
            </a:pPr>
            <a:r>
              <a:t>BrainClaw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480559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AI Agents — 94+ tools, GPT-4.1, Arc Mercer live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BrainClaw AI Agents — Already at Arc Mercer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In Production at Arc Mercer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Calibri"/>
              </a:defRPr>
            </a:pPr>
            <a:r>
              <a:t>Powered by BrainClaw + GPT-4.1 (GitHub Copilot)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057400"/>
            <a:ext cx="5486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SpringBoard Agent — 37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Routes, fleet, consumers, optimization, SMS, GPS, SOS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Samsara Agent — 57 tools</a:t>
            </a:r>
          </a:p>
          <a:p>
            <a:pPr>
              <a:spcAft>
                <a:spcPts val="5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  Vehicles, drivers, HOS, safety events, DVIRs, GPS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0690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33333"/>
                </a:solidFill>
                <a:latin typeface="Calibri"/>
              </a:defRPr>
            </a:pPr>
            <a:r>
              <a:t>Arc Mercer staff use natural language today: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480560"/>
            <a:ext cx="548640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452628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"Optimize routes for Weekday AM"</a:t>
            </a:r>
            <a:br/>
            <a:r>
              <a:t>"Where is vehicle 147 right now?"</a:t>
            </a:r>
            <a:br/>
            <a:r>
              <a:t>"SMS all Residential drivers — 10 min delay"</a:t>
            </a:r>
            <a:br/>
            <a:r>
              <a:t>"Generate daily manifest for Arc Mercer"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097280"/>
            <a:ext cx="5577840" cy="530352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1188720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Extending to Recognition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16916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Calibri"/>
              </a:defRPr>
            </a:pPr>
            <a:r>
              <a:t>Natural language for HR &amp; leadership: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4884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"Which program had most nominations last month?"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"Who hasn't been recognized in 60+ days?"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"Flag unusual point bestowals this week"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"Generate Q1 engagement report as CSV"</a:t>
            </a:r>
          </a:p>
          <a:p>
            <a:pPr>
              <a:spcAft>
                <a:spcPts val="10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"What's our engagement score this month?"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5303520"/>
            <a:ext cx="5303520" cy="7315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5349240"/>
            <a:ext cx="4937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Optional add-on — same BrainBook UI Arc Mercer already 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Understanding Your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The Arc Mercer's Current 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Manual recognition processes — inconsistent, hard to track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Multiple programs (Residential, Day Programs) operating in silos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Frontline staff with varying technical literacy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Many frontline DSPs lack company email addresses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Selection committee uses ranked-choice voting — no digital tool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centralized system for nominations or point tracking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No connection to Paycom HRIS for employee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What You Need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Centralized, web-based recognition platform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Program-based competition engine with committee voting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Multi-stream point system with audit trails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Rewards marketplace — digital, café, and in-person store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Paycom integration &amp; flexible auth (SSO + Badge ID + PIN)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Community engagement: TAC, culture groups, volunteering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Mobile-first, accessible to all staff (incl. dark mode)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Our Solution — 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Custom-Built SaaS — Tailored for The Arc Mercer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9144000" cy="914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901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React + TypeScript PWA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26771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Mobile-first responsive design, offline capable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880360"/>
            <a:ext cx="9144000" cy="914400"/>
          </a:xfrm>
          <a:prstGeom prst="rect">
            <a:avLst/>
          </a:prstGeom>
          <a:solidFill>
            <a:srgbClr val="1A5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295351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Supabase (PostgreSQL)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31927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Auth, real-time subscriptions, Row Level Security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3931920"/>
            <a:ext cx="9144000" cy="91440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400507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Python (FastAPI)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437083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Paycom SFTP sync, gift card APIs, scheduled jobs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4983480"/>
            <a:ext cx="9144000" cy="9144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0" y="505663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AWS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5422392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Calibri"/>
              </a:defRPr>
            </a:pPr>
            <a:r>
              <a:t>ECS Fargate, CloudFront, S3, WAF, CloudWatch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Calibri"/>
              </a:defRPr>
            </a:pPr>
            <a:r>
              <a:t>Security: AES-256 at rest  |  TLS 1.3 in transit  |  WCAG AAA  |  Full audit logging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Nominations, Voting &amp; QA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Nominations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3 award types: Employee of the Month, Rising Star, Team Impact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Step-by-step guided form with large buttons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1 nomination per candidate/month, 5 total/month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1089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Selection Committee Voting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6616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Ranked-choice drag-and-drop voting interface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Private ballots — not visible until window closes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Automated tally (Borda count / weighted rank)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Per-voter audit trail &amp; historical ballot archive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377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QA Queue &amp; Revise-Resubmit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94960"/>
            <a:ext cx="5029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Approve / Return for Edits / Decline with batch operations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Formal resubmission loop: status tracking through full cycle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Admin comments → nominator notification → edit &amp; resubmit</a:t>
            </a:r>
          </a:p>
        </p:txBody>
      </p:sp>
      <p:pic>
        <p:nvPicPr>
          <p:cNvPr id="10" name="Picture 9" descr="reward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Points, Engagement &amp; Community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Multi-Stream Point Accrual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6400800" cy="34747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3794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Point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83794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Trigger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8541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Employee / Rising Star / Team Impact (Approved)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8541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QA queue approval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523744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53288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253288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Admin check-in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871216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TAC Meeting Role Completion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288036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Role fulfilled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3218688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2783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Culture Group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322783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Leader/admin 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566160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75304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Volunteer / Event Help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3575304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Post-event confirmation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3913632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922776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Social Media Engagement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3922776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Screenshot review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261104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70248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Newsletter Trivia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4270248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Correct answer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4608576"/>
            <a:ext cx="6400800" cy="34747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46177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Birthday / Anniversary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461772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Automated (Paycom)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56048"/>
            <a:ext cx="64008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965192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Leadership Bestowal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4965192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Manual award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4406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All point values are admin-configurable — no code changes needed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2801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Community Engagement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rPr sz="1300" b="1">
                <a:solidFill>
                  <a:srgbClr val="333333"/>
                </a:solidFill>
                <a:latin typeface="Calibri"/>
              </a:rPr>
              <a:t>• TAC RSVP &amp; Role Sign-Ups: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RSVP workflow, role selection (setup, check-in, cleanup), automated reminders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Culture Groups: </a:t>
            </a:r>
            <a:r>
              <a:rPr sz="1300" b="0">
                <a:solidFill>
                  <a:srgbClr val="333333"/>
                </a:solidFill>
                <a:latin typeface="Calibri"/>
              </a:rPr>
              <a:t>Self-service directory, one-tap sign-up, attendance tracking, participation points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Volunteer Forms: </a:t>
            </a:r>
            <a:r>
              <a:rPr sz="1300" b="0">
                <a:solidFill>
                  <a:srgbClr val="333333"/>
                </a:solidFill>
                <a:latin typeface="Calibri"/>
              </a:rPr>
              <a:t>Event help board, volunteer slots, completion tracking, engagement score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Social Media: </a:t>
            </a:r>
            <a:r>
              <a:rPr sz="1300" b="0">
                <a:solidFill>
                  <a:srgbClr val="333333"/>
                </a:solidFill>
                <a:latin typeface="Calibri"/>
              </a:rPr>
              <a:t>Screenshot upload, admin review queue, campaign tracking</a:t>
            </a:r>
          </a:p>
          <a:p>
            <a:pPr>
              <a:spcAft>
                <a:spcPts val="1000"/>
              </a:spcAft>
              <a:defRPr sz="1300"/>
            </a:pPr>
            <a:r>
              <a:rPr sz="1300" b="1">
                <a:solidFill>
                  <a:srgbClr val="333333"/>
                </a:solidFill>
                <a:latin typeface="Calibri"/>
              </a:rPr>
              <a:t>• Audit &amp; Transparency: </a:t>
            </a:r>
            <a:r>
              <a:rPr sz="1300" b="0">
                <a:solidFill>
                  <a:srgbClr val="333333"/>
                </a:solidFill>
                <a:latin typeface="Calibri"/>
              </a:rPr>
              <a:t>Immutable transaction log, anomaly detection, CSV export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Rewards Marketplace — Digital, Café &amp; In-Person Store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Digital Storefront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69164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Visual catalog with images, point costs, descriptions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Categories: Merchandise, Cafeteria Meals, Gift Cards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Real-time point balance during browsing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One-tap redemption with confirmation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0632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Café Cashier Redemption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520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Tablet-friendly cashier interface for meal redemptions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Employee lookup by name, badge ID, or QR code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Balance display → meal selection → point deduction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No POS integration required — standalone operation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709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In-Person Store &amp; QR Redemption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16636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Employee QR code on profile / home screen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Store attendant scans QR → select item → confirm</a:t>
            </a:r>
          </a:p>
          <a:p>
            <a:pPr>
              <a:spcAft>
                <a:spcPts val="6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Inventory sync: physical store + digital storefront</a:t>
            </a:r>
          </a:p>
        </p:txBody>
      </p:sp>
      <p:pic>
        <p:nvPicPr>
          <p:cNvPr id="10" name="Picture 9" descr="reward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371600"/>
            <a:ext cx="6217920" cy="346191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Paycom Integration &amp; Authentication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Paycom HRIS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Primary: SFTP nightly file export (CSV/XML)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Python ETL service parses &amp; syncs to Supabase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Auto-provision new hires, deactivate terminations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Sync: Employee ID, name, email, program, hire date, DOB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Discrepancy reports flagged for HR review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Optional: REST API enhancement (if subscription supports)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389120"/>
            <a:ext cx="5029200" cy="20116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onsolas"/>
              </a:defRPr>
            </a:pPr>
            <a:r>
              <a:t>Paycom → SFTP Export → AWS S3 → Python ETL</a:t>
            </a:r>
            <a:br/>
            <a:r>
              <a:t>          ↓</a:t>
            </a:r>
            <a:br/>
            <a:r>
              <a:t>    Supabase (PostgreSQL)</a:t>
            </a:r>
            <a:br/>
            <a:r>
              <a:t>          ↓</a:t>
            </a:r>
            <a:br/>
            <a:r>
              <a:t>    React Front End (Live Data)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Three Login Paths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828800"/>
            <a:ext cx="5029200" cy="123444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874519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➀  Badge ID + PIN (Frontline Staff)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94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Paycom badge ID — the ID they already carry daily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Self-set 4–6 digit PIN, no email required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Hashed/salted PINs, lockout after 5 failed attempts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3200400"/>
            <a:ext cx="5029200" cy="10972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32461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➁  Google Workspace SSO (Admin &amp; Mgmt)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3566160"/>
            <a:ext cx="4754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Supabase Auth: SAML 2.0, OAuth 2.0, OIDC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Future: Microsoft Entra ID — zero-downtime migration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434840"/>
            <a:ext cx="5029200" cy="640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4805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2A4A"/>
                </a:solidFill>
                <a:latin typeface="Calibri"/>
              </a:defRPr>
            </a:pPr>
            <a:r>
              <a:t>➂  Email / Password Fallback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480060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For part-time or seasonal staff with email but not on SSO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5303520"/>
            <a:ext cx="5029200" cy="73152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5349240"/>
            <a:ext cx="4754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Every employee can access the platform —</a:t>
            </a:r>
            <a:br/>
            <a:r>
              <a:t>no matter their tech level or email situation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Accessibility, Dark Mode &amp; Mobile-First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66666"/>
                </a:solidFill>
                <a:latin typeface="Calibri"/>
              </a:defRPr>
            </a:pPr>
            <a:r>
              <a:t>Design philosophy: "Could someone who only uses their phone for calls and texts do this?"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Universal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Large touch targets: 48×48px minimum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WCAG AAA contrast (7:1 ratio)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Icon-driven navigation — not text-dependent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6th grade reading level for all text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Progressive disclosure — one action per screen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Keyboard navigable, screen reader compatible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86C1"/>
                </a:solidFill>
                <a:latin typeface="Calibri"/>
              </a:defRPr>
            </a:pPr>
            <a:r>
              <a:t>Mobile-First PWA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37744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Progressive Web App (PWA) — no app store needed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Works on any smartphone, 320px+ screens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Low-bandwidth friendly, lazy-loaded images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Dark mode / light mode toggle for night shifts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System preference detection, persisted per user</a:t>
            </a:r>
          </a:p>
          <a:p>
            <a:pPr>
              <a:spcAft>
                <a:spcPts val="10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Accessibility audit before each phase launch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Dashboards — Employee &amp; Leadership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Employee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37960" y="105156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2E86C1"/>
                </a:solidFill>
                <a:latin typeface="Calibri"/>
              </a:defRPr>
            </a:pPr>
            <a:r>
              <a:t>Leadership Console</a:t>
            </a:r>
          </a:p>
        </p:txBody>
      </p:sp>
      <p:pic>
        <p:nvPicPr>
          <p:cNvPr id="6" name="Picture 5" descr="reward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417320"/>
            <a:ext cx="5486400" cy="3054631"/>
          </a:xfrm>
          <a:prstGeom prst="rect">
            <a:avLst/>
          </a:prstGeom>
        </p:spPr>
      </p:pic>
      <p:pic>
        <p:nvPicPr>
          <p:cNvPr id="7" name="Picture 6" descr="reward_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417320"/>
            <a:ext cx="5486400" cy="3054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Points Balance  •  Wall of Fame  •  Quick Nominate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4617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Calibri"/>
              </a:defRPr>
            </a:pPr>
            <a:r>
              <a:t>Total Points  •  Engagement Rate  •  QA Pending Review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074920"/>
            <a:ext cx="12191695" cy="6400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1206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1B2A4A"/>
                </a:solidFill>
                <a:latin typeface="Calibri"/>
              </a:defRPr>
            </a:pPr>
            <a:r>
              <a:t>All dashboards are real-time  •  Mobile-first  •  Accessible on any device  •  Role-based visibility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Phased Implementation — 36 Weeks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4389120" cy="54864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54480" y="18745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1: Foundation  (Weeks 1–12)</a:t>
            </a:r>
          </a:p>
        </p:txBody>
      </p:sp>
      <p:sp>
        <p:nvSpPr>
          <p:cNvPr id="6" name="Rectangle 5"/>
          <p:cNvSpPr/>
          <p:nvPr/>
        </p:nvSpPr>
        <p:spPr>
          <a:xfrm>
            <a:off x="4846320" y="2560320"/>
            <a:ext cx="3200400" cy="548640"/>
          </a:xfrm>
          <a:prstGeom prst="rect">
            <a:avLst/>
          </a:prstGeom>
          <a:solidFill>
            <a:srgbClr val="14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0" y="2606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2: Engagement  (Weeks 13–24)</a:t>
            </a:r>
          </a:p>
        </p:txBody>
      </p:sp>
      <p:sp>
        <p:nvSpPr>
          <p:cNvPr id="8" name="Rectangle 7"/>
          <p:cNvSpPr/>
          <p:nvPr/>
        </p:nvSpPr>
        <p:spPr>
          <a:xfrm>
            <a:off x="8046720" y="3291840"/>
            <a:ext cx="320040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3375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Phase 3: Marketplace  (Weeks 25–36)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86C1"/>
                </a:solidFill>
                <a:latin typeface="Calibri"/>
              </a:defRPr>
            </a:pPr>
            <a:r>
              <a:t>Phase 1 Deliverables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Nomination engine + ranked-choice committee voting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QA queue with revise-and-resubmit workflow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Paycom SFTP sync + audit trail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Auth: Badge ID + PIN, Google SSO, email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735A"/>
                </a:solidFill>
                <a:latin typeface="Calibri"/>
              </a:defRPr>
            </a:pPr>
            <a:r>
              <a:t>Phase 2 Deliverables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Employee &amp; leadership dashboards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Dark mode / light mode toggle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TAC RSVP, culture groups, volunteer forms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Social media engagement (screenshot)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Push/email notifications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389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7E22"/>
                </a:solidFill>
                <a:latin typeface="Calibri"/>
              </a:defRPr>
            </a:pPr>
            <a:r>
              <a:t>Phase 3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75488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300" b="0">
                <a:solidFill>
                  <a:srgbClr val="333333"/>
                </a:solidFill>
                <a:latin typeface="Calibri"/>
              </a:defRPr>
            </a:pPr>
            <a:r>
              <a:t>• Digital rewards storefront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Café cashier redemption screen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In-person store QR code scanning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Gift card instant delivery</a:t>
            </a:r>
          </a:p>
          <a:p>
            <a:pPr>
              <a:spcAft>
                <a:spcPts val="400"/>
              </a:spcAft>
              <a:defRPr sz="1300">
                <a:solidFill>
                  <a:srgbClr val="333333"/>
                </a:solidFill>
                <a:latin typeface="Calibri"/>
              </a:defRPr>
            </a:pPr>
            <a:r>
              <a:t>• Inventory management &amp; fulfillment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A: Source-Code Ownership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The Arc Mercer owns all source code, database, and IP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737360"/>
            <a:ext cx="3657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75564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06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737360"/>
            <a:ext cx="1371600" cy="41148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5564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214884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16712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1: Nominations, Voting, Paycom, Badge ID Auth, 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06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~480 hrs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14884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16712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$45,000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560320"/>
            <a:ext cx="3657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257860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2: Dashboards, Engagement Modules, Dark Mode,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~310 hrs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560320"/>
            <a:ext cx="1371600" cy="411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257860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$35,000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971800"/>
            <a:ext cx="3657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29900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Phase 3: Marketplace, Café Redemption, QR Store, Gift Cards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206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~280 hrs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971800"/>
            <a:ext cx="1371600" cy="4114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99008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Calibri"/>
              </a:defRPr>
            </a:pPr>
            <a:r>
              <a:t>$30,000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3383280"/>
            <a:ext cx="3657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63040" y="340156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Total Implementation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206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~1,070 hrs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383280"/>
            <a:ext cx="1371600" cy="41148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92240" y="3401568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Blended rate: ~$103/hr — well below $150-250/hr industry standard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17373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86C1"/>
                </a:solidFill>
                <a:latin typeface="Calibri"/>
              </a:defRPr>
            </a:pPr>
            <a:r>
              <a:t>Annual Recurring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2286000"/>
            <a:ext cx="4114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AWS hosting/CDN/monitoring: $6,000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Supabase Pro Plan: $3,000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SSL &amp; domain: $200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Maintenance &amp; support: $12,000</a:t>
            </a:r>
          </a:p>
          <a:p>
            <a:pPr>
              <a:spcAft>
                <a:spcPts val="8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Total annual: $21,200/year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4572000"/>
            <a:ext cx="3657600" cy="109728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79" y="4663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1 Total: $131,200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55279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Year 2+: $21,200/year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All add-ons INCLUDED at $0  —  only AI LLM usage fee applies (billed at cost, pass-through)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Pricing — Option B: IoTeye-Hosted SaaS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No upfront cost — IoTeye retains platform ownership &amp; offers managed service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828800"/>
            <a:ext cx="4114800" cy="22860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54480" y="19202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46888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Implementation fee: $0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Monthly subscription: $2,500/month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Annual total: $30,000/year</a:t>
            </a:r>
          </a:p>
          <a:p>
            <a:pPr>
              <a:spcAft>
                <a:spcPts val="10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Minimum commitment: 3-year term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828800"/>
            <a:ext cx="4572000" cy="22860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What's Included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114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500" b="0">
                <a:solidFill>
                  <a:srgbClr val="333333"/>
                </a:solidFill>
                <a:latin typeface="Calibri"/>
              </a:defRPr>
            </a:pPr>
            <a:r>
              <a:t>• All 3 phases (same 36-week timeline)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Hosting, maintenance, security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Ongoing support &amp; platform updates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No per-user fees</a:t>
            </a:r>
          </a:p>
          <a:p>
            <a:pPr>
              <a:spcAft>
                <a:spcPts val="800"/>
              </a:spcAft>
              <a:defRPr sz="1500">
                <a:solidFill>
                  <a:srgbClr val="333333"/>
                </a:solidFill>
                <a:latin typeface="Calibri"/>
              </a:defRPr>
            </a:pPr>
            <a:r>
              <a:t>• All add-ons: $0 (AI LLM usage only)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160520"/>
            <a:ext cx="4572000" cy="45720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420624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★ AI Agents, Reports, Training — all at $0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B2A4A"/>
                </a:solidFill>
                <a:latin typeface="Calibri"/>
              </a:defRPr>
            </a:pPr>
            <a:r>
              <a:t>Option A vs. Option B — Cost Comparison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4846320"/>
            <a:ext cx="22860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37360" y="486460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</a:p>
        </p:txBody>
      </p:sp>
      <p:sp>
        <p:nvSpPr>
          <p:cNvPr id="16" name="Rectangle 15"/>
          <p:cNvSpPr/>
          <p:nvPr/>
        </p:nvSpPr>
        <p:spPr>
          <a:xfrm>
            <a:off x="39319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233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A (Own Code)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4846320"/>
            <a:ext cx="3200400" cy="36576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0" y="486460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Option B (SaaS)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521208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737360" y="522122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Upfront Cost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319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0233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$110,000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0" y="521208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522122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45920" y="553212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37360" y="554126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Annual Cost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319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233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$21,200/year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553212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554126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$30,000/year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645920" y="585216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737360" y="586130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3-Year Total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$173,600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585216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586130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$90,000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645920" y="6172200"/>
            <a:ext cx="2286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737360" y="618134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5-Year Total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9319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0233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$216,000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132320" y="6172200"/>
            <a:ext cx="32004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223760" y="61813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$150,000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645920" y="6492240"/>
            <a:ext cx="22860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37360" y="6501384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Calibri"/>
              </a:defRPr>
            </a:pPr>
            <a:r>
              <a:t>Code Ownership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9319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0233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Yes — you own 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0" y="6492240"/>
            <a:ext cx="3200400" cy="3200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23760" y="650138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 — IoTeye retains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Feature Comparison — How We Stack 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Calibri"/>
              </a:defRPr>
            </a:pPr>
            <a:r>
              <a:t>37 features evaluated across all 3 proposals submitted for this RFP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6420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Category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1645920"/>
            <a:ext cx="109728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0" y="16642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IoTeye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645920"/>
            <a:ext cx="128016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6420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Proposal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29968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4825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Nomination &amp; Recognition (6)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02996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204825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029968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04825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414016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3230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Selection &amp; Voting (3)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241401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0" y="243230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414016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243230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2798064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81635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Authentication &amp; Access (5)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2798064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0" y="281635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2064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2798064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0" y="28163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182112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320040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Engagement &amp; Participation (6)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23360" y="3182112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0" y="3200400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182112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0" y="3200400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" y="3566160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358444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Rewards &amp; Redemption (5)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3566160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358444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12064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21208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3566160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58444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3950208"/>
            <a:ext cx="3474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6849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Analytics, AI &amp; Reporting (4)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23360" y="3950208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0" y="3968496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12064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21208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3950208"/>
            <a:ext cx="1280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92240" y="3968496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334256"/>
            <a:ext cx="347472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35254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Calibri"/>
              </a:defRPr>
            </a:pPr>
            <a:r>
              <a:t>Technical &amp; Infrastructure (8)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023360" y="4334256"/>
            <a:ext cx="1097280" cy="384048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0" y="4352544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7A43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12064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21208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400800" y="4334256"/>
            <a:ext cx="128016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92240" y="4352544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48640" y="4718304"/>
            <a:ext cx="3474720" cy="384048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080" y="473659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Calibri"/>
              </a:defRPr>
            </a:pPr>
            <a:r>
              <a:t>TOTAL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023360" y="4718304"/>
            <a:ext cx="1097280" cy="384048"/>
          </a:xfrm>
          <a:prstGeom prst="rect">
            <a:avLst/>
          </a:prstGeom>
          <a:solidFill>
            <a:srgbClr val="1B7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4800" y="4736592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Calibri"/>
              </a:defRPr>
            </a:pPr>
            <a:r>
              <a:t>36 / 37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12064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1208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21 / 37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400800" y="4718304"/>
            <a:ext cx="1280160" cy="38404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492240" y="473659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18 / 37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863840" y="1645920"/>
            <a:ext cx="4023360" cy="4114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046720" y="17373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2A4A"/>
                </a:solidFill>
                <a:latin typeface="Calibri"/>
              </a:defRPr>
            </a:pPr>
            <a:r>
              <a:t>IoTeye-Exclusive Advantages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194560"/>
            <a:ext cx="365760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200" b="0">
                <a:solidFill>
                  <a:srgbClr val="333333"/>
                </a:solidFill>
                <a:latin typeface="Calibri"/>
              </a:defRPr>
            </a:pPr>
            <a:r>
              <a:t>• BrainClaw AI — 94+ tools already in production at Arc Mercer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WCAG AAA accessibility (7:1 contrast, screen reader tested)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AWS HIPAA-eligible infrastructure, 99.9% uptime SLA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Severity-based SLAs (Critical: 2hr response)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Source code ownership option (Option A)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Multi-IDP SSO migration path (Google → Microsoft)</a:t>
            </a:r>
          </a:p>
          <a:p>
            <a:pPr>
              <a:spcAft>
                <a:spcPts val="700"/>
              </a:spcAft>
              <a:defRPr sz="1200">
                <a:solidFill>
                  <a:srgbClr val="333333"/>
                </a:solidFill>
                <a:latin typeface="Calibri"/>
              </a:defRPr>
            </a:pPr>
            <a:r>
              <a:t>• Anomaly detection &amp; immutable audit trails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5943600"/>
            <a:ext cx="12191695" cy="6400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★  IoTeye covers 36 of 37 features — 10 added after competitive analysis, all within the original $110K budget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Why IoTeye —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Why We're the Right Partner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  <a:defRPr sz="1400" b="0">
                <a:solidFill>
                  <a:srgbClr val="333333"/>
                </a:solidFill>
                <a:latin typeface="Calibri"/>
              </a:defRPr>
            </a:pPr>
            <a:r>
              <a:t>• 5+ years in special care software — we know your workforce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Arc Mercer is an existing SpringBoard &amp; Guardian customer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BrainClaw AI agents already running at Arc Mercer (37+57 tools)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Badge ID + PIN login for frontline staff without email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Ranked-choice committee voting — matching your current process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Full engagement suite: TAC RSVP, culture groups, volunteering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Café cashier screen + in-person store QR redemption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Dark mode for night-shift staff at group homes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WCAG AAA accessibility — 7:1 contrast, screen reader tested</a:t>
            </a:r>
          </a:p>
          <a:p>
            <a:pPr>
              <a:spcAft>
                <a:spcPts val="700"/>
              </a:spcAft>
              <a:defRPr sz="1400">
                <a:solidFill>
                  <a:srgbClr val="333333"/>
                </a:solidFill>
                <a:latin typeface="Calibri"/>
              </a:defRPr>
            </a:pPr>
            <a:r>
              <a:t>• All add-ons FREE — pay only AI LLM usage (pass-through)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E86C1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• Select pricing option (A or B)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Schedule kickoff &amp; discovery workshop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Initiate Paycom SFTP access setup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Configure Google Workspace SSO + Badge ID mapping</a:t>
            </a:r>
          </a:p>
          <a:p>
            <a:pPr>
              <a:spcAft>
                <a:spcPts val="1200"/>
              </a:spcAft>
              <a:defRPr sz="1600">
                <a:solidFill>
                  <a:srgbClr val="333333"/>
                </a:solidFill>
                <a:latin typeface="Calibri"/>
              </a:defRPr>
            </a:pPr>
            <a:r>
              <a:t>• Phase One live in 12 weeks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4389120"/>
            <a:ext cx="4572000" cy="1828800"/>
          </a:xfrm>
          <a:prstGeom prst="rect">
            <a:avLst/>
          </a:prstGeom>
          <a:solidFill>
            <a:srgbClr val="D6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4480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B2A4A"/>
                </a:solidFill>
                <a:latin typeface="Calibri"/>
              </a:defRPr>
            </a:pPr>
            <a:r>
              <a:t>Contact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4937760"/>
            <a:ext cx="4114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Calibri"/>
              </a:defRPr>
            </a:pPr>
            <a:r>
              <a:t>IoTeye Inc.</a:t>
            </a:r>
            <a:br/>
            <a:r>
              <a:t>Basking Ridge, New Jersey</a:t>
            </a:r>
            <a:br/>
            <a:r>
              <a:t>mingjye.sheng@ioteyeinc.com</a:t>
            </a:r>
            <a:br/>
            <a:r>
              <a:t>www.ioteyeinc.com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692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2E86C1"/>
                </a:solidFill>
                <a:latin typeface="Calibri"/>
              </a:defRPr>
            </a:pPr>
            <a: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